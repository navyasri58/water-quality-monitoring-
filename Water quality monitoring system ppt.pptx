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60" r:id="rId6"/>
    <p:sldId id="279" r:id="rId7"/>
    <p:sldId id="277" r:id="rId8"/>
    <p:sldId id="261" r:id="rId9"/>
    <p:sldId id="278" r:id="rId10"/>
    <p:sldId id="262" r:id="rId11"/>
    <p:sldId id="273" r:id="rId12"/>
    <p:sldId id="280" r:id="rId13"/>
    <p:sldId id="274" r:id="rId14"/>
    <p:sldId id="263" r:id="rId15"/>
    <p:sldId id="264" r:id="rId16"/>
    <p:sldId id="265" r:id="rId17"/>
    <p:sldId id="275" r:id="rId18"/>
    <p:sldId id="266" r:id="rId19"/>
    <p:sldId id="267" r:id="rId20"/>
    <p:sldId id="27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54"/>
    <p:restoredTop sz="94716"/>
  </p:normalViewPr>
  <p:slideViewPr>
    <p:cSldViewPr snapToGrid="0">
      <p:cViewPr varScale="1">
        <p:scale>
          <a:sx n="59" d="100"/>
          <a:sy n="59" d="100"/>
        </p:scale>
        <p:origin x="102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83D582-14C1-4FC7-BA83-B48C4A54C784}" type="datetimeFigureOut">
              <a:rPr lang="en-IN" smtClean="0"/>
              <a:t>31-03-2026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D95CE5-1D2B-41D6-B72B-C19AC057B36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Google Shape;23;p17"/>
          <p:cNvSpPr/>
          <p:nvPr userDrawn="1"/>
        </p:nvSpPr>
        <p:spPr>
          <a:xfrm>
            <a:off x="-12000" y="6221729"/>
            <a:ext cx="7793309" cy="501650"/>
          </a:xfrm>
          <a:prstGeom prst="rect">
            <a:avLst/>
          </a:prstGeom>
          <a:solidFill>
            <a:srgbClr val="C00000"/>
          </a:solidFill>
          <a:ln w="12700" cap="flat" cmpd="sng">
            <a:solidFill>
              <a:srgbClr val="C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1800" dirty="0">
                <a:solidFill>
                  <a:schemeClr val="lt1"/>
                </a:solidFill>
                <a:latin typeface="Calibri" panose="020F0502020204030204"/>
                <a:ea typeface="Calibri" panose="020F0502020204030204"/>
                <a:cs typeface="Calibri" panose="020F0502020204030204"/>
                <a:sym typeface="Calibri" panose="020F0502020204030204"/>
              </a:rPr>
              <a:t>EPICS-2024</a:t>
            </a:r>
            <a:endParaRPr sz="1800" dirty="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71F2715-E694-4471-B79F-AC832E3563E8}" type="datetime1">
              <a:rPr lang="en-IN" smtClean="0"/>
              <a:t>31-03-2026</a:t>
            </a:fld>
            <a:endParaRPr lang="en-IN"/>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a:xfrm>
            <a:off x="152400" y="6356350"/>
            <a:ext cx="2743200" cy="365125"/>
          </a:xfrm>
        </p:spPr>
        <p:txBody>
          <a:bodyPr/>
          <a:lstStyle>
            <a:lvl1pPr algn="l">
              <a:defRPr b="1"/>
            </a:lvl1pPr>
          </a:lstStyle>
          <a:p>
            <a:fld id="{3C1BE5C6-F1B4-4058-A1D1-E6C7789A335B}" type="slidenum">
              <a:rPr lang="en-IN" smtClean="0"/>
              <a:t>‹#›</a:t>
            </a:fld>
            <a:endParaRPr lang="en-IN" dirty="0"/>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351264" y="52005"/>
            <a:ext cx="2840736" cy="963168"/>
          </a:xfrm>
          <a:prstGeom prst="rect">
            <a:avLst/>
          </a:prstGeom>
        </p:spPr>
      </p:pic>
      <p:pic>
        <p:nvPicPr>
          <p:cNvPr id="9" name="Picture 8"/>
          <p:cNvPicPr>
            <a:picLocks noChangeAspect="1"/>
          </p:cNvPicPr>
          <p:nvPr userDrawn="1"/>
        </p:nvPicPr>
        <p:blipFill>
          <a:blip r:embed="rId3"/>
          <a:stretch>
            <a:fillRect/>
          </a:stretch>
        </p:blipFill>
        <p:spPr>
          <a:xfrm>
            <a:off x="7781309" y="6156202"/>
            <a:ext cx="4410691" cy="62873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8F8959C-0E5B-4690-84D3-32EC97DB8DB9}" type="datetime1">
              <a:rPr lang="en-IN" smtClean="0"/>
              <a:t>31-03-2026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1BE5C6-F1B4-4058-A1D1-E6C7789A335B}"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D10D34-0263-4E57-BC70-DE7A1B99EDFC}" type="datetime1">
              <a:rPr lang="en-IN" smtClean="0"/>
              <a:t>31-03-2026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1BE5C6-F1B4-4058-A1D1-E6C7789A335B}"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B8AB307E-3D1A-4D06-BE83-6DE338CDE4F1}" type="datetime1">
              <a:rPr lang="en-IN" smtClean="0"/>
              <a:t>31-03-2026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C1BE5C6-F1B4-4058-A1D1-E6C7789A335B}"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DBE22CD-1251-4B75-B026-A1283096FC3E}" type="datetime1">
              <a:rPr lang="en-IN" smtClean="0"/>
              <a:t>31-03-2026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C1BE5C6-F1B4-4058-A1D1-E6C7789A335B}"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2369142-8F8F-4A6F-85CC-E72E40FCDF70}" type="datetime1">
              <a:rPr lang="en-IN" smtClean="0"/>
              <a:t>31-03-2026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C1BE5C6-F1B4-4058-A1D1-E6C7789A335B}"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F216D2-71E1-4910-BDEC-051D40D6EB2D}" type="datetime1">
              <a:rPr lang="en-IN" smtClean="0"/>
              <a:t>31-03-2026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C1BE5C6-F1B4-4058-A1D1-E6C7789A335B}"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CAA7F8E-77B6-4D4A-86C4-D85D860C2EB0}" type="datetime1">
              <a:rPr lang="en-IN" smtClean="0"/>
              <a:t>31-03-2026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C1BE5C6-F1B4-4058-A1D1-E6C7789A335B}"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19FC9C-39BE-4FAE-9653-C9767199CB40}" type="datetime1">
              <a:rPr lang="en-IN" smtClean="0"/>
              <a:t>31-03-2026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C1BE5C6-F1B4-4058-A1D1-E6C7789A335B}"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2E53003-1544-4495-8269-68386B5494B8}" type="datetime1">
              <a:rPr lang="en-IN" smtClean="0"/>
              <a:t>31-03-2026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1BE5C6-F1B4-4058-A1D1-E6C7789A335B}"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2EE2F91-68B7-4215-B51B-10171A33ABDC}" type="datetime1">
              <a:rPr lang="en-IN" smtClean="0"/>
              <a:t>31-03-2026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1BE5C6-F1B4-4058-A1D1-E6C7789A335B}"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AB8C01-55F5-41F8-91C5-CD280BBADA4F}" type="datetime1">
              <a:rPr lang="en-IN" smtClean="0"/>
              <a:t>31-03-2026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1BE5C6-F1B4-4058-A1D1-E6C7789A335B}"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1BE5C6-F1B4-4058-A1D1-E6C7789A335B}" type="slidenum">
              <a:rPr lang="en-IN" smtClean="0">
                <a:latin typeface="Times New Roman" panose="02020603050405020304" pitchFamily="18" charset="0"/>
                <a:cs typeface="Times New Roman" panose="02020603050405020304" pitchFamily="18" charset="0"/>
              </a:rPr>
              <a:t>1</a:t>
            </a:fld>
            <a:endParaRPr lang="en-IN">
              <a:latin typeface="Times New Roman" panose="02020603050405020304" pitchFamily="18" charset="0"/>
              <a:cs typeface="Times New Roman" panose="02020603050405020304" pitchFamily="18" charset="0"/>
            </a:endParaRPr>
          </a:p>
        </p:txBody>
      </p:sp>
      <p:sp>
        <p:nvSpPr>
          <p:cNvPr id="7" name="TextBox 6"/>
          <p:cNvSpPr txBox="1"/>
          <p:nvPr/>
        </p:nvSpPr>
        <p:spPr>
          <a:xfrm>
            <a:off x="892968" y="572571"/>
            <a:ext cx="7891803" cy="523220"/>
          </a:xfrm>
          <a:prstGeom prst="rect">
            <a:avLst/>
          </a:prstGeom>
          <a:noFill/>
        </p:spPr>
        <p:txBody>
          <a:bodyPr wrap="square">
            <a:spAutoFit/>
          </a:bodyPr>
          <a:lstStyle/>
          <a:p>
            <a:pPr lvl="0" eaLnBrk="0" fontAlgn="base" hangingPunct="0">
              <a:spcBef>
                <a:spcPct val="0"/>
              </a:spcBef>
              <a:spcAft>
                <a:spcPct val="0"/>
              </a:spcAft>
            </a:pPr>
            <a:r>
              <a:rPr kumimoji="0" lang="en-US" altLang="en-US" sz="2800" b="1" i="0" u="none"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rPr>
              <a:t>Project Title: </a:t>
            </a:r>
            <a:r>
              <a:rPr lang="en-US" sz="2800" b="1" dirty="0">
                <a:latin typeface="Times New Roman" panose="02020603050405020304" pitchFamily="18" charset="0"/>
                <a:cs typeface="Times New Roman" panose="02020603050405020304" pitchFamily="18" charset="0"/>
              </a:rPr>
              <a:t>Water Quality Monitoring System</a:t>
            </a:r>
            <a:endParaRPr kumimoji="0" lang="en-US" altLang="en-US" sz="2800" b="0" i="0" u="none"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endParaRPr>
          </a:p>
        </p:txBody>
      </p:sp>
      <p:sp>
        <p:nvSpPr>
          <p:cNvPr id="9" name="TextBox 8"/>
          <p:cNvSpPr txBox="1"/>
          <p:nvPr/>
        </p:nvSpPr>
        <p:spPr>
          <a:xfrm>
            <a:off x="655608" y="1630393"/>
            <a:ext cx="6166673" cy="49244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Team Members’ </a:t>
            </a:r>
            <a:r>
              <a:rPr lang="en-US" altLang="en-US" sz="2600" b="1" dirty="0">
                <a:latin typeface="Times New Roman" panose="02020603050405020304" pitchFamily="18" charset="0"/>
                <a:cs typeface="Times New Roman" panose="02020603050405020304" pitchFamily="18" charset="0"/>
              </a:rPr>
              <a:t>Details</a:t>
            </a:r>
            <a:endPar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11" name="Table 10"/>
          <p:cNvGraphicFramePr>
            <a:graphicFrameLocks noGrp="1"/>
          </p:cNvGraphicFramePr>
          <p:nvPr/>
        </p:nvGraphicFramePr>
        <p:xfrm>
          <a:off x="655608" y="2122835"/>
          <a:ext cx="10640626" cy="3587180"/>
        </p:xfrm>
        <a:graphic>
          <a:graphicData uri="http://schemas.openxmlformats.org/drawingml/2006/table">
            <a:tbl>
              <a:tblPr firstRow="1" bandRow="1">
                <a:tableStyleId>{5940675A-B579-460E-94D1-54222C63F5DA}</a:tableStyleId>
              </a:tblPr>
              <a:tblGrid>
                <a:gridCol w="834328">
                  <a:extLst>
                    <a:ext uri="{9D8B030D-6E8A-4147-A177-3AD203B41FA5}">
                      <a16:colId xmlns:a16="http://schemas.microsoft.com/office/drawing/2014/main" val="20000"/>
                    </a:ext>
                  </a:extLst>
                </a:gridCol>
                <a:gridCol w="1634523">
                  <a:extLst>
                    <a:ext uri="{9D8B030D-6E8A-4147-A177-3AD203B41FA5}">
                      <a16:colId xmlns:a16="http://schemas.microsoft.com/office/drawing/2014/main" val="20001"/>
                    </a:ext>
                  </a:extLst>
                </a:gridCol>
                <a:gridCol w="3250462">
                  <a:extLst>
                    <a:ext uri="{9D8B030D-6E8A-4147-A177-3AD203B41FA5}">
                      <a16:colId xmlns:a16="http://schemas.microsoft.com/office/drawing/2014/main" val="20002"/>
                    </a:ext>
                  </a:extLst>
                </a:gridCol>
                <a:gridCol w="974785">
                  <a:extLst>
                    <a:ext uri="{9D8B030D-6E8A-4147-A177-3AD203B41FA5}">
                      <a16:colId xmlns:a16="http://schemas.microsoft.com/office/drawing/2014/main" val="20003"/>
                    </a:ext>
                  </a:extLst>
                </a:gridCol>
                <a:gridCol w="1449237">
                  <a:extLst>
                    <a:ext uri="{9D8B030D-6E8A-4147-A177-3AD203B41FA5}">
                      <a16:colId xmlns:a16="http://schemas.microsoft.com/office/drawing/2014/main" val="20004"/>
                    </a:ext>
                  </a:extLst>
                </a:gridCol>
                <a:gridCol w="2497291">
                  <a:extLst>
                    <a:ext uri="{9D8B030D-6E8A-4147-A177-3AD203B41FA5}">
                      <a16:colId xmlns:a16="http://schemas.microsoft.com/office/drawing/2014/main" val="20005"/>
                    </a:ext>
                  </a:extLst>
                </a:gridCol>
              </a:tblGrid>
              <a:tr h="392948">
                <a:tc>
                  <a:txBody>
                    <a:bodyPr/>
                    <a:lstStyle/>
                    <a:p>
                      <a:r>
                        <a:rPr lang="en-IN" dirty="0" err="1"/>
                        <a:t>Sl.No</a:t>
                      </a:r>
                      <a:endParaRPr lang="en-IN" dirty="0"/>
                    </a:p>
                  </a:txBody>
                  <a:tcPr/>
                </a:tc>
                <a:tc>
                  <a:txBody>
                    <a:bodyPr/>
                    <a:lstStyle/>
                    <a:p>
                      <a:r>
                        <a:rPr lang="en-IN" dirty="0"/>
                        <a:t>Student ID</a:t>
                      </a:r>
                    </a:p>
                  </a:txBody>
                  <a:tcPr/>
                </a:tc>
                <a:tc>
                  <a:txBody>
                    <a:bodyPr/>
                    <a:lstStyle/>
                    <a:p>
                      <a:r>
                        <a:rPr lang="en-IN" dirty="0"/>
                        <a:t>Student Name</a:t>
                      </a:r>
                    </a:p>
                  </a:txBody>
                  <a:tcPr/>
                </a:tc>
                <a:tc>
                  <a:txBody>
                    <a:bodyPr/>
                    <a:lstStyle/>
                    <a:p>
                      <a:r>
                        <a:rPr lang="en-IN" dirty="0"/>
                        <a:t>Section</a:t>
                      </a:r>
                    </a:p>
                  </a:txBody>
                  <a:tcPr/>
                </a:tc>
                <a:tc>
                  <a:txBody>
                    <a:bodyPr/>
                    <a:lstStyle/>
                    <a:p>
                      <a:r>
                        <a:rPr lang="en-IN" dirty="0"/>
                        <a:t>Contact</a:t>
                      </a:r>
                    </a:p>
                  </a:txBody>
                  <a:tcPr/>
                </a:tc>
                <a:tc>
                  <a:txBody>
                    <a:bodyPr/>
                    <a:lstStyle/>
                    <a:p>
                      <a:r>
                        <a:rPr lang="en-IN" dirty="0"/>
                        <a:t>Email</a:t>
                      </a:r>
                    </a:p>
                  </a:txBody>
                  <a:tcPr/>
                </a:tc>
                <a:extLst>
                  <a:ext uri="{0D108BD9-81ED-4DB2-BD59-A6C34878D82A}">
                    <a16:rowId xmlns:a16="http://schemas.microsoft.com/office/drawing/2014/main" val="10000"/>
                  </a:ext>
                </a:extLst>
              </a:tr>
              <a:tr h="550044">
                <a:tc>
                  <a:txBody>
                    <a:bodyPr/>
                    <a:lstStyle/>
                    <a:p>
                      <a:r>
                        <a:rPr lang="en-IN" dirty="0"/>
                        <a:t>1.</a:t>
                      </a:r>
                    </a:p>
                  </a:txBody>
                  <a:tcPr/>
                </a:tc>
                <a:tc>
                  <a:txBody>
                    <a:bodyPr/>
                    <a:lstStyle/>
                    <a:p>
                      <a:r>
                        <a:rPr lang="en-IN" dirty="0"/>
                        <a:t>2310040049</a:t>
                      </a:r>
                    </a:p>
                  </a:txBody>
                  <a:tcPr/>
                </a:tc>
                <a:tc>
                  <a:txBody>
                    <a:bodyPr/>
                    <a:lstStyle/>
                    <a:p>
                      <a:r>
                        <a:rPr lang="en-IN" dirty="0"/>
                        <a:t>D.VIJAYA NAVYA SRI</a:t>
                      </a:r>
                    </a:p>
                  </a:txBody>
                  <a:tcPr/>
                </a:tc>
                <a:tc>
                  <a:txBody>
                    <a:bodyPr/>
                    <a:lstStyle/>
                    <a:p>
                      <a:r>
                        <a:rPr lang="en-IN" dirty="0"/>
                        <a:t>S2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800" kern="1200" dirty="0">
                          <a:solidFill>
                            <a:schemeClr val="tx1"/>
                          </a:solidFill>
                          <a:effectLst/>
                          <a:latin typeface="+mn-lt"/>
                          <a:ea typeface="+mn-ea"/>
                          <a:cs typeface="+mn-cs"/>
                        </a:rPr>
                        <a:t>99087 73156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dirty="0"/>
                        <a:t>2310040049@klh.edu.in</a:t>
                      </a:r>
                    </a:p>
                  </a:txBody>
                  <a:tcPr/>
                </a:tc>
                <a:extLst>
                  <a:ext uri="{0D108BD9-81ED-4DB2-BD59-A6C34878D82A}">
                    <a16:rowId xmlns:a16="http://schemas.microsoft.com/office/drawing/2014/main" val="10001"/>
                  </a:ext>
                </a:extLst>
              </a:tr>
              <a:tr h="550044">
                <a:tc>
                  <a:txBody>
                    <a:bodyPr/>
                    <a:lstStyle/>
                    <a:p>
                      <a:r>
                        <a:rPr lang="en-IN" dirty="0"/>
                        <a:t>2.</a:t>
                      </a:r>
                    </a:p>
                  </a:txBody>
                  <a:tcPr/>
                </a:tc>
                <a:tc>
                  <a:txBody>
                    <a:bodyPr/>
                    <a:lstStyle/>
                    <a:p>
                      <a:r>
                        <a:rPr lang="en-IN" dirty="0"/>
                        <a:t>2310040058</a:t>
                      </a:r>
                    </a:p>
                  </a:txBody>
                  <a:tcPr/>
                </a:tc>
                <a:tc>
                  <a:txBody>
                    <a:bodyPr/>
                    <a:lstStyle/>
                    <a:p>
                      <a:r>
                        <a:rPr lang="en-IN" dirty="0"/>
                        <a:t>MARAM SIRISHA</a:t>
                      </a:r>
                    </a:p>
                  </a:txBody>
                  <a:tcPr/>
                </a:tc>
                <a:tc>
                  <a:txBody>
                    <a:bodyPr/>
                    <a:lstStyle/>
                    <a:p>
                      <a:r>
                        <a:rPr lang="en-IN" dirty="0"/>
                        <a:t>S2</a:t>
                      </a:r>
                    </a:p>
                  </a:txBody>
                  <a:tcPr/>
                </a:tc>
                <a:tc>
                  <a:txBody>
                    <a:bodyPr/>
                    <a:lstStyle/>
                    <a:p>
                      <a:r>
                        <a:rPr lang="en-IN" dirty="0"/>
                        <a:t>7601056769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dirty="0"/>
                        <a:t>2310040058@klh.edu.in</a:t>
                      </a:r>
                    </a:p>
                  </a:txBody>
                  <a:tcPr/>
                </a:tc>
                <a:extLst>
                  <a:ext uri="{0D108BD9-81ED-4DB2-BD59-A6C34878D82A}">
                    <a16:rowId xmlns:a16="http://schemas.microsoft.com/office/drawing/2014/main" val="10002"/>
                  </a:ext>
                </a:extLst>
              </a:tr>
              <a:tr h="550044">
                <a:tc>
                  <a:txBody>
                    <a:bodyPr/>
                    <a:lstStyle/>
                    <a:p>
                      <a:r>
                        <a:rPr lang="en-IN" dirty="0"/>
                        <a:t>3.</a:t>
                      </a:r>
                    </a:p>
                  </a:txBody>
                  <a:tcPr/>
                </a:tc>
                <a:tc>
                  <a:txBody>
                    <a:bodyPr/>
                    <a:lstStyle/>
                    <a:p>
                      <a:r>
                        <a:rPr lang="en-IN" dirty="0"/>
                        <a:t>2310040065</a:t>
                      </a:r>
                    </a:p>
                  </a:txBody>
                  <a:tcPr/>
                </a:tc>
                <a:tc>
                  <a:txBody>
                    <a:bodyPr/>
                    <a:lstStyle/>
                    <a:p>
                      <a:r>
                        <a:rPr lang="en-IN" dirty="0"/>
                        <a:t>MAMIDI DIVYA</a:t>
                      </a:r>
                    </a:p>
                  </a:txBody>
                  <a:tcPr/>
                </a:tc>
                <a:tc>
                  <a:txBody>
                    <a:bodyPr/>
                    <a:lstStyle/>
                    <a:p>
                      <a:r>
                        <a:rPr lang="en-IN" dirty="0"/>
                        <a:t>S2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800" kern="1200" dirty="0">
                          <a:solidFill>
                            <a:schemeClr val="tx1"/>
                          </a:solidFill>
                          <a:effectLst/>
                          <a:latin typeface="+mn-lt"/>
                          <a:ea typeface="+mn-ea"/>
                          <a:cs typeface="+mn-cs"/>
                        </a:rPr>
                        <a:t>83419 93680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dirty="0"/>
                        <a:t>2310040065@klh.edu.in</a:t>
                      </a:r>
                    </a:p>
                  </a:txBody>
                  <a:tcPr/>
                </a:tc>
                <a:extLst>
                  <a:ext uri="{0D108BD9-81ED-4DB2-BD59-A6C34878D82A}">
                    <a16:rowId xmlns:a16="http://schemas.microsoft.com/office/drawing/2014/main" val="10003"/>
                  </a:ext>
                </a:extLst>
              </a:tr>
              <a:tr h="550044">
                <a:tc>
                  <a:txBody>
                    <a:bodyPr/>
                    <a:lstStyle/>
                    <a:p>
                      <a:r>
                        <a:rPr lang="en-IN" dirty="0"/>
                        <a:t>4.</a:t>
                      </a:r>
                    </a:p>
                  </a:txBody>
                  <a:tcPr/>
                </a:tc>
                <a:tc>
                  <a:txBody>
                    <a:bodyPr/>
                    <a:lstStyle/>
                    <a:p>
                      <a:r>
                        <a:rPr lang="en-IN" dirty="0"/>
                        <a:t>2310040090</a:t>
                      </a:r>
                    </a:p>
                  </a:txBody>
                  <a:tcPr/>
                </a:tc>
                <a:tc>
                  <a:txBody>
                    <a:bodyPr/>
                    <a:lstStyle/>
                    <a:p>
                      <a:r>
                        <a:rPr lang="en-IN" dirty="0"/>
                        <a:t>LIKITHA</a:t>
                      </a:r>
                    </a:p>
                  </a:txBody>
                  <a:tcPr/>
                </a:tc>
                <a:tc>
                  <a:txBody>
                    <a:bodyPr/>
                    <a:lstStyle/>
                    <a:p>
                      <a:r>
                        <a:rPr lang="en-IN" dirty="0"/>
                        <a:t>S2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800" kern="1200" dirty="0">
                          <a:solidFill>
                            <a:schemeClr val="tx1"/>
                          </a:solidFill>
                          <a:effectLst/>
                          <a:latin typeface="+mn-lt"/>
                          <a:ea typeface="+mn-ea"/>
                          <a:cs typeface="+mn-cs"/>
                        </a:rPr>
                        <a:t>78160 20741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dirty="0"/>
                        <a:t>2310040090@klh.edu.in</a:t>
                      </a:r>
                    </a:p>
                  </a:txBody>
                  <a:tcPr/>
                </a:tc>
                <a:extLst>
                  <a:ext uri="{0D108BD9-81ED-4DB2-BD59-A6C34878D82A}">
                    <a16:rowId xmlns:a16="http://schemas.microsoft.com/office/drawing/2014/main" val="10004"/>
                  </a:ext>
                </a:extLst>
              </a:tr>
              <a:tr h="601108">
                <a:tc>
                  <a:txBody>
                    <a:bodyPr/>
                    <a:lstStyle/>
                    <a:p>
                      <a:r>
                        <a:rPr lang="en-IN" dirty="0"/>
                        <a:t>5.</a:t>
                      </a:r>
                    </a:p>
                  </a:txBody>
                  <a:tcPr/>
                </a:tc>
                <a:tc>
                  <a:txBody>
                    <a:bodyPr/>
                    <a:lstStyle/>
                    <a:p>
                      <a:r>
                        <a:rPr lang="en-IN" dirty="0"/>
                        <a:t>2310040092</a:t>
                      </a:r>
                    </a:p>
                  </a:txBody>
                  <a:tcPr/>
                </a:tc>
                <a:tc>
                  <a:txBody>
                    <a:bodyPr/>
                    <a:lstStyle/>
                    <a:p>
                      <a:r>
                        <a:rPr lang="en-IN" dirty="0"/>
                        <a:t>GOWTHAMI</a:t>
                      </a:r>
                    </a:p>
                  </a:txBody>
                  <a:tcPr/>
                </a:tc>
                <a:tc>
                  <a:txBody>
                    <a:bodyPr/>
                    <a:lstStyle/>
                    <a:p>
                      <a:r>
                        <a:rPr lang="en-IN" dirty="0"/>
                        <a:t>S2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800" kern="1200" dirty="0">
                          <a:solidFill>
                            <a:schemeClr val="tx1"/>
                          </a:solidFill>
                          <a:effectLst/>
                          <a:latin typeface="+mn-lt"/>
                          <a:ea typeface="+mn-ea"/>
                          <a:cs typeface="+mn-cs"/>
                        </a:rPr>
                        <a:t>6305090943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dirty="0"/>
                        <a:t>2310040092@klh.edu.in</a:t>
                      </a:r>
                    </a:p>
                  </a:txBody>
                  <a:tcPr/>
                </a:tc>
                <a:extLst>
                  <a:ext uri="{0D108BD9-81ED-4DB2-BD59-A6C34878D82A}">
                    <a16:rowId xmlns:a16="http://schemas.microsoft.com/office/drawing/2014/main" val="10005"/>
                  </a:ext>
                </a:extLst>
              </a:tr>
              <a:tr h="392948">
                <a:tc>
                  <a:txBody>
                    <a:bodyPr/>
                    <a:lstStyle/>
                    <a:p>
                      <a:endParaRPr lang="en-IN" dirty="0"/>
                    </a:p>
                  </a:txBody>
                  <a:tcPr/>
                </a:tc>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10006"/>
                  </a:ext>
                </a:extLst>
              </a:tr>
            </a:tbl>
          </a:graphicData>
        </a:graphic>
      </p:graphicFrame>
      <p:sp>
        <p:nvSpPr>
          <p:cNvPr id="12" name="TextBox 11"/>
          <p:cNvSpPr txBox="1"/>
          <p:nvPr/>
        </p:nvSpPr>
        <p:spPr>
          <a:xfrm>
            <a:off x="655608" y="1095792"/>
            <a:ext cx="6166673" cy="46166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pPr>
            <a:r>
              <a:rPr kumimoji="0" lang="en-US" altLang="en-US" sz="2400" b="1" i="0" u="none"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rPr>
              <a:t>Team ID:EPICSA001</a:t>
            </a:r>
            <a:endParaRPr kumimoji="0" lang="en-US" altLang="en-US" sz="2400" b="0" i="0" u="none"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1BE5C6-F1B4-4058-A1D1-E6C7789A335B}" type="slidenum">
              <a:rPr lang="en-IN" smtClean="0"/>
              <a:t>2</a:t>
            </a:fld>
            <a:endParaRPr lang="en-IN"/>
          </a:p>
        </p:txBody>
      </p:sp>
      <p:sp>
        <p:nvSpPr>
          <p:cNvPr id="3" name="TextBox 2"/>
          <p:cNvSpPr txBox="1"/>
          <p:nvPr/>
        </p:nvSpPr>
        <p:spPr>
          <a:xfrm>
            <a:off x="674089" y="1164181"/>
            <a:ext cx="8365331" cy="4154984"/>
          </a:xfrm>
          <a:prstGeom prst="rect">
            <a:avLst/>
          </a:prstGeom>
          <a:noFill/>
        </p:spPr>
        <p:txBody>
          <a:bodyPr wrap="square">
            <a:spAutoFit/>
          </a:bodyPr>
          <a:lstStyle/>
          <a:p>
            <a:pPr>
              <a:lnSpc>
                <a:spcPct val="150000"/>
              </a:lnSpc>
            </a:pPr>
            <a:r>
              <a:rPr lang="en-US" sz="2800" b="1" dirty="0">
                <a:latin typeface="Times New Roman" panose="02020603050405020304" pitchFamily="18" charset="0"/>
                <a:cs typeface="Times New Roman" panose="02020603050405020304" pitchFamily="18" charset="0"/>
              </a:rPr>
              <a:t>Problem Statement</a:t>
            </a:r>
          </a:p>
          <a:p>
            <a:pPr>
              <a:lnSpc>
                <a:spcPct val="150000"/>
              </a:lnSpc>
            </a:pPr>
            <a:r>
              <a:rPr lang="en-US" sz="2800" b="1" dirty="0">
                <a:latin typeface="Times New Roman" panose="02020603050405020304" pitchFamily="18" charset="0"/>
                <a:cs typeface="Times New Roman" panose="02020603050405020304" pitchFamily="18" charset="0"/>
              </a:rPr>
              <a:t>Title: Water Quality Monitoring System</a:t>
            </a:r>
          </a:p>
          <a:p>
            <a:r>
              <a:rPr lang="en-US" sz="2800" b="1" dirty="0"/>
              <a:t>Community Issue:</a:t>
            </a:r>
            <a:br>
              <a:rPr lang="en-US" sz="2800" dirty="0"/>
            </a:br>
            <a:r>
              <a:rPr lang="en-US" sz="2400" dirty="0"/>
              <a:t>Contaminated water poses health risks, impacting community well-being and ecosystems</a:t>
            </a:r>
            <a:r>
              <a:rPr lang="en-US" sz="2800" dirty="0"/>
              <a:t>.</a:t>
            </a:r>
          </a:p>
          <a:p>
            <a:r>
              <a:rPr lang="en-US" sz="2800" b="1" dirty="0"/>
              <a:t>Project Significance:</a:t>
            </a:r>
            <a:br>
              <a:rPr lang="en-US" sz="2800" dirty="0"/>
            </a:br>
            <a:r>
              <a:rPr lang="en-US" sz="2400" dirty="0"/>
              <a:t>A water quality monitoring system enables real-time detection of pollutants, allowing communities to respond quickly and ensure safe, clean water for all</a:t>
            </a:r>
            <a:r>
              <a:rPr lang="en-US" sz="2000"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1BE5C6-F1B4-4058-A1D1-E6C7789A335B}" type="slidenum">
              <a:rPr lang="en-IN" smtClean="0"/>
              <a:t>3</a:t>
            </a:fld>
            <a:endParaRPr lang="en-IN"/>
          </a:p>
        </p:txBody>
      </p:sp>
      <p:sp>
        <p:nvSpPr>
          <p:cNvPr id="3" name="TextBox 2"/>
          <p:cNvSpPr txBox="1"/>
          <p:nvPr/>
        </p:nvSpPr>
        <p:spPr>
          <a:xfrm>
            <a:off x="430924" y="672663"/>
            <a:ext cx="8370175" cy="5212004"/>
          </a:xfrm>
          <a:prstGeom prst="rect">
            <a:avLst/>
          </a:prstGeom>
          <a:noFill/>
        </p:spPr>
        <p:txBody>
          <a:bodyPr wrap="square">
            <a:spAutoFit/>
          </a:bodyPr>
          <a:lstStyle/>
          <a:p>
            <a:pPr>
              <a:lnSpc>
                <a:spcPct val="150000"/>
              </a:lnSpc>
            </a:pPr>
            <a:r>
              <a:rPr lang="en-US" sz="2600" b="1" dirty="0">
                <a:latin typeface="Times New Roman" panose="02020603050405020304" pitchFamily="18" charset="0"/>
                <a:cs typeface="Times New Roman" panose="02020603050405020304" pitchFamily="18" charset="0"/>
              </a:rPr>
              <a:t>Project Goals and Objectives</a:t>
            </a:r>
          </a:p>
          <a:p>
            <a:pPr>
              <a:lnSpc>
                <a:spcPct val="150000"/>
              </a:lnSpc>
            </a:pPr>
            <a:r>
              <a:rPr lang="en-US" sz="2800" b="1" dirty="0">
                <a:latin typeface="Times New Roman" panose="02020603050405020304" pitchFamily="18" charset="0"/>
                <a:cs typeface="Times New Roman" panose="02020603050405020304" pitchFamily="18" charset="0"/>
              </a:rPr>
              <a:t>Title: </a:t>
            </a:r>
            <a:r>
              <a:rPr lang="en-IN" sz="2800" b="1" dirty="0"/>
              <a:t>Purity"</a:t>
            </a:r>
            <a:r>
              <a:rPr lang="en-IN" sz="2800" dirty="0"/>
              <a:t> or </a:t>
            </a:r>
            <a:r>
              <a:rPr lang="en-IN" sz="2800" b="1" dirty="0"/>
              <a:t>"Health"</a:t>
            </a:r>
            <a:endParaRPr lang="en-US" sz="2600" dirty="0">
              <a:latin typeface="Times New Roman" panose="02020603050405020304" pitchFamily="18" charset="0"/>
              <a:cs typeface="Times New Roman" panose="02020603050405020304" pitchFamily="18" charset="0"/>
            </a:endParaRPr>
          </a:p>
          <a:p>
            <a:r>
              <a:rPr lang="en-US" sz="2600" b="1" dirty="0"/>
              <a:t>Goals:</a:t>
            </a:r>
            <a:endParaRPr lang="en-US" sz="2600" dirty="0"/>
          </a:p>
          <a:p>
            <a:pPr>
              <a:buFont typeface="Arial" panose="020B0604020202020204" pitchFamily="34" charset="0"/>
              <a:buChar char="•"/>
            </a:pPr>
            <a:r>
              <a:rPr lang="en-US" sz="2400" dirty="0"/>
              <a:t>Ensure safe, clean water for the community.</a:t>
            </a:r>
          </a:p>
          <a:p>
            <a:pPr>
              <a:buFont typeface="Arial" panose="020B0604020202020204" pitchFamily="34" charset="0"/>
              <a:buChar char="•"/>
            </a:pPr>
            <a:r>
              <a:rPr lang="en-US" sz="2400" dirty="0"/>
              <a:t>Enable real-time detection of water contaminants.</a:t>
            </a:r>
          </a:p>
          <a:p>
            <a:r>
              <a:rPr lang="en-US" sz="2600" b="1" dirty="0"/>
              <a:t>Objectives:</a:t>
            </a:r>
            <a:endParaRPr lang="en-US" sz="2600" dirty="0"/>
          </a:p>
          <a:p>
            <a:pPr>
              <a:buFont typeface="Arial" panose="020B0604020202020204" pitchFamily="34" charset="0"/>
              <a:buChar char="•"/>
            </a:pPr>
            <a:r>
              <a:rPr lang="en-US" sz="2400" dirty="0"/>
              <a:t>Monitor water quality continuously.</a:t>
            </a:r>
          </a:p>
          <a:p>
            <a:pPr>
              <a:buFont typeface="Arial" panose="020B0604020202020204" pitchFamily="34" charset="0"/>
              <a:buChar char="•"/>
            </a:pPr>
            <a:r>
              <a:rPr lang="en-US" sz="2400" dirty="0"/>
              <a:t>Alert authorities and residents to any contamination.</a:t>
            </a:r>
          </a:p>
          <a:p>
            <a:r>
              <a:rPr lang="en-US" sz="2600" b="1" dirty="0"/>
              <a:t>Impact:</a:t>
            </a:r>
            <a:endParaRPr lang="en-US" sz="2600" dirty="0"/>
          </a:p>
          <a:p>
            <a:pPr>
              <a:buFont typeface="Arial" panose="020B0604020202020204" pitchFamily="34" charset="0"/>
              <a:buChar char="•"/>
            </a:pPr>
            <a:r>
              <a:rPr lang="en-US" sz="2400" dirty="0"/>
              <a:t>Promotes healthier communities and environmental sustainability.</a:t>
            </a:r>
          </a:p>
          <a:p>
            <a:pPr>
              <a:lnSpc>
                <a:spcPct val="150000"/>
              </a:lnSpc>
            </a:pPr>
            <a:r>
              <a:rPr lang="en-US" sz="24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1BE5C6-F1B4-4058-A1D1-E6C7789A335B}" type="slidenum">
              <a:rPr lang="en-IN" smtClean="0"/>
              <a:t>4</a:t>
            </a:fld>
            <a:endParaRPr lang="en-IN"/>
          </a:p>
        </p:txBody>
      </p:sp>
      <p:sp>
        <p:nvSpPr>
          <p:cNvPr id="3" name="TextBox 2"/>
          <p:cNvSpPr txBox="1"/>
          <p:nvPr/>
        </p:nvSpPr>
        <p:spPr>
          <a:xfrm>
            <a:off x="256478" y="613317"/>
            <a:ext cx="8051181" cy="6006709"/>
          </a:xfrm>
          <a:prstGeom prst="rect">
            <a:avLst/>
          </a:prstGeom>
          <a:noFill/>
        </p:spPr>
        <p:txBody>
          <a:bodyPr wrap="square">
            <a:spAutoFit/>
          </a:bodyPr>
          <a:lstStyle/>
          <a:p>
            <a:pPr>
              <a:lnSpc>
                <a:spcPct val="150000"/>
              </a:lnSpc>
            </a:pPr>
            <a:r>
              <a:rPr lang="en-US" sz="2800" b="1" dirty="0">
                <a:latin typeface="Times New Roman" panose="02020603050405020304" pitchFamily="18" charset="0"/>
                <a:cs typeface="Times New Roman" panose="02020603050405020304" pitchFamily="18" charset="0"/>
              </a:rPr>
              <a:t>Stakeholders and Community Partners</a:t>
            </a:r>
          </a:p>
          <a:p>
            <a:r>
              <a:rPr lang="en-US" sz="2800" b="1" dirty="0">
                <a:latin typeface="Times New Roman" panose="02020603050405020304" pitchFamily="18" charset="0"/>
                <a:cs typeface="Times New Roman" panose="02020603050405020304" pitchFamily="18" charset="0"/>
              </a:rPr>
              <a:t>Title :</a:t>
            </a:r>
            <a:r>
              <a:rPr lang="en-IN" sz="2800" dirty="0"/>
              <a:t> </a:t>
            </a:r>
            <a:r>
              <a:rPr lang="en-IN" sz="2400" dirty="0"/>
              <a:t>Local government, Local NGO’S</a:t>
            </a:r>
          </a:p>
          <a:p>
            <a:br>
              <a:rPr lang="en-IN" sz="2800" dirty="0"/>
            </a:br>
            <a:r>
              <a:rPr lang="en-US" sz="2800" b="1" dirty="0"/>
              <a:t>Stakeholders &amp; Roles </a:t>
            </a:r>
            <a:endParaRPr lang="en-US" sz="2800" dirty="0"/>
          </a:p>
          <a:p>
            <a:pPr>
              <a:buFont typeface="Arial" panose="020B0604020202020204" pitchFamily="34" charset="0"/>
              <a:buChar char="•"/>
            </a:pPr>
            <a:r>
              <a:rPr lang="en-US" sz="2800" b="1" dirty="0"/>
              <a:t>Govt :</a:t>
            </a:r>
            <a:r>
              <a:rPr lang="en-US" sz="2800" dirty="0"/>
              <a:t> </a:t>
            </a:r>
            <a:r>
              <a:rPr lang="en-US" sz="2400" dirty="0"/>
              <a:t>Funding/regulation healthier community.</a:t>
            </a:r>
          </a:p>
          <a:p>
            <a:pPr>
              <a:buFont typeface="Arial" panose="020B0604020202020204" pitchFamily="34" charset="0"/>
              <a:buChar char="•"/>
            </a:pPr>
            <a:r>
              <a:rPr lang="en-US" sz="2800" b="1" dirty="0"/>
              <a:t>Health Dept :</a:t>
            </a:r>
            <a:r>
              <a:rPr lang="en-US" sz="2800" dirty="0"/>
              <a:t> </a:t>
            </a:r>
            <a:r>
              <a:rPr lang="en-US" sz="2400" dirty="0"/>
              <a:t>Monitors health, disease prevention</a:t>
            </a:r>
            <a:r>
              <a:rPr lang="en-US" sz="2800" dirty="0"/>
              <a:t>.</a:t>
            </a:r>
            <a:br>
              <a:rPr lang="en-US" sz="2800" dirty="0"/>
            </a:br>
            <a:r>
              <a:rPr lang="en-IN" sz="2800" b="1" dirty="0"/>
              <a:t>Residents :</a:t>
            </a:r>
            <a:r>
              <a:rPr lang="en-IN" sz="2800" dirty="0"/>
              <a:t> </a:t>
            </a:r>
            <a:r>
              <a:rPr lang="en-IN" sz="2400" dirty="0"/>
              <a:t>Safer water access.</a:t>
            </a:r>
          </a:p>
          <a:p>
            <a:pPr>
              <a:buFont typeface="Arial" panose="020B0604020202020204" pitchFamily="34" charset="0"/>
              <a:buChar char="•"/>
            </a:pPr>
            <a:endParaRPr lang="en-US" sz="2800" dirty="0"/>
          </a:p>
          <a:p>
            <a:r>
              <a:rPr lang="en-US" sz="2800" b="1" dirty="0"/>
              <a:t>Partners &amp; Roles</a:t>
            </a:r>
            <a:endParaRPr lang="en-US" sz="2800" dirty="0"/>
          </a:p>
          <a:p>
            <a:pPr>
              <a:buFont typeface="Arial" panose="020B0604020202020204" pitchFamily="34" charset="0"/>
              <a:buChar char="•"/>
            </a:pPr>
            <a:r>
              <a:rPr lang="en-US" sz="2800" b="1" dirty="0"/>
              <a:t>Water Utilities:</a:t>
            </a:r>
            <a:r>
              <a:rPr lang="en-US" sz="2800" dirty="0"/>
              <a:t> </a:t>
            </a:r>
            <a:r>
              <a:rPr lang="en-US" sz="2400" dirty="0"/>
              <a:t>Implement system , operational insights</a:t>
            </a:r>
            <a:r>
              <a:rPr lang="en-US" sz="2800" dirty="0"/>
              <a:t>.</a:t>
            </a:r>
          </a:p>
          <a:p>
            <a:pPr>
              <a:buFont typeface="Arial" panose="020B0604020202020204" pitchFamily="34" charset="0"/>
              <a:buChar char="•"/>
            </a:pPr>
            <a:r>
              <a:rPr lang="en-US" sz="2800" b="1" dirty="0"/>
              <a:t>NGOs:</a:t>
            </a:r>
            <a:r>
              <a:rPr lang="en-US" sz="2800" dirty="0"/>
              <a:t> </a:t>
            </a:r>
            <a:r>
              <a:rPr lang="en-US" sz="2400" dirty="0"/>
              <a:t>Outreach community impact.</a:t>
            </a:r>
          </a:p>
          <a:p>
            <a:pPr>
              <a:buFont typeface="Arial" panose="020B0604020202020204" pitchFamily="34" charset="0"/>
              <a:buChar char="•"/>
            </a:pPr>
            <a:r>
              <a:rPr lang="en-US" sz="2800" b="1" dirty="0"/>
              <a:t>Schools:</a:t>
            </a:r>
            <a:r>
              <a:rPr lang="en-US" sz="2800" dirty="0"/>
              <a:t> </a:t>
            </a:r>
            <a:r>
              <a:rPr lang="en-US" sz="2400" dirty="0"/>
              <a:t>Technical support, research data</a:t>
            </a:r>
            <a:r>
              <a:rPr lang="en-US" sz="2800" dirty="0"/>
              <a:t>.</a:t>
            </a:r>
          </a:p>
          <a:p>
            <a:pPr>
              <a:lnSpc>
                <a:spcPct val="150000"/>
              </a:lnSpc>
            </a:pPr>
            <a:endParaRPr lang="en-US" sz="2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1BE5C6-F1B4-4058-A1D1-E6C7789A335B}" type="slidenum">
              <a:rPr lang="en-IN" smtClean="0"/>
              <a:t>5</a:t>
            </a:fld>
            <a:endParaRPr lang="en-IN"/>
          </a:p>
        </p:txBody>
      </p:sp>
      <p:sp>
        <p:nvSpPr>
          <p:cNvPr id="3" name="TextBox 2"/>
          <p:cNvSpPr txBox="1"/>
          <p:nvPr/>
        </p:nvSpPr>
        <p:spPr>
          <a:xfrm>
            <a:off x="259307" y="600501"/>
            <a:ext cx="10481482" cy="5403402"/>
          </a:xfrm>
          <a:prstGeom prst="rect">
            <a:avLst/>
          </a:prstGeom>
          <a:noFill/>
        </p:spPr>
        <p:txBody>
          <a:bodyPr wrap="square">
            <a:spAutoFit/>
          </a:bodyPr>
          <a:lstStyle/>
          <a:p>
            <a:pPr>
              <a:lnSpc>
                <a:spcPct val="150000"/>
              </a:lnSpc>
            </a:pPr>
            <a:r>
              <a:rPr lang="en-US" sz="3200" b="1" dirty="0">
                <a:latin typeface="Times New Roman" panose="02020603050405020304" pitchFamily="18" charset="0"/>
                <a:cs typeface="Times New Roman" panose="02020603050405020304" pitchFamily="18" charset="0"/>
              </a:rPr>
              <a:t>Solution Overview</a:t>
            </a:r>
            <a:endParaRPr lang="en-US" sz="2400" b="1" dirty="0">
              <a:latin typeface="Times New Roman" panose="02020603050405020304" pitchFamily="18" charset="0"/>
              <a:cs typeface="Times New Roman" panose="02020603050405020304" pitchFamily="18" charset="0"/>
            </a:endParaRPr>
          </a:p>
          <a:p>
            <a:pPr>
              <a:lnSpc>
                <a:spcPct val="150000"/>
              </a:lnSpc>
            </a:pPr>
            <a:r>
              <a:rPr lang="en-US" sz="3200" b="1" dirty="0">
                <a:latin typeface="Times New Roman" panose="02020603050405020304" pitchFamily="18" charset="0"/>
                <a:cs typeface="Times New Roman" panose="02020603050405020304" pitchFamily="18" charset="0"/>
              </a:rPr>
              <a:t>Content: </a:t>
            </a:r>
            <a:r>
              <a:rPr lang="en-US" sz="2400" dirty="0"/>
              <a:t>Our water quality monitoring system uses real-time sensors to track key parameters like pH, turbidity, temperature, and contaminants. Our team developed a water quality monitoring solution using an Arduino-based system to collect, analyze, and report data on key water quality parameters. The system was designed to be cost-effective, scalable, and easy to deploy, especially in remote or under-resourced areas.</a:t>
            </a:r>
          </a:p>
          <a:p>
            <a:pPr>
              <a:lnSpc>
                <a:spcPct val="150000"/>
              </a:lnSpc>
            </a:pPr>
            <a:br>
              <a:rPr lang="en-US" sz="1600" b="1" dirty="0">
                <a:latin typeface="Times New Roman" panose="02020603050405020304" pitchFamily="18" charset="0"/>
                <a:cs typeface="Times New Roman" panose="02020603050405020304" pitchFamily="18" charset="0"/>
              </a:rPr>
            </a:br>
            <a:br>
              <a:rPr lang="en-US" sz="1600" b="1"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p:txBody>
      </p:sp>
      <p:sp>
        <p:nvSpPr>
          <p:cNvPr id="2" name="AutoShape 2" descr="A conceptual diagram of a water quality monitoring system. It includes water bodies, IoT sensors (pH, turbidity, dissolved oxygen, temperature), a wireless network (LoRa/Wi-Fi), cloud storage (AWS or Azure), a real-time dashboard for monitoring, solar panels for power, and machine learning for anomaly detection. The diagram should clearly show the flow of data from sensors to the cloud, and the alert system for abnormal readings."/>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5" name="AutoShape 4" descr="A conceptual diagram of a water quality monitoring system. It includes water bodies, IoT sensors (pH, turbidity, dissolved oxygen, temperature), a wireless network (LoRa/Wi-Fi), cloud storage (AWS or Azure), a real-time dashboard for monitoring, solar panels for power, and machine learning for anomaly detection. The diagram should clearly show the flow of data from sensors to the cloud, and the alert system for abnormal readings."/>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6" name="AutoShape 6" descr="A conceptual diagram of a water quality monitoring system. It includes water bodies, IoT sensors (pH, turbidity, dissolved oxygen, temperature), a wireless network (LoRa/Wi-Fi), cloud storage (AWS or Azure), a real-time dashboard for monitoring, solar panels for power, and machine learning for anomaly detection. The diagram should clearly show the flow of data from sensors to the cloud, and the alert system for abnormal readings."/>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7" name="AutoShape 8" descr="A conceptual diagram of a water quality monitoring system. It includes water bodies, IoT sensors (pH, turbidity, dissolved oxygen, temperature), a wireless network (LoRa/Wi-Fi), cloud storage (AWS or Azure), a real-time dashboard for monitoring, solar panels for power, and machine learning for anomaly detection. The diagram should clearly show the flow of data from sensors to the cloud, and the alert system for abnormal readings."/>
          <p:cNvSpPr>
            <a:spLocks noChangeAspect="1" noChangeArrowheads="1"/>
          </p:cNvSpPr>
          <p:nvPr/>
        </p:nvSpPr>
        <p:spPr bwMode="auto">
          <a:xfrm>
            <a:off x="6400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8" name="AutoShape 10" descr="A conceptual diagram of a water quality monitoring system. It includes water bodies, IoT sensors (pH, turbidity, dissolved oxygen, temperature), a wireless network (LoRa/Wi-Fi), cloud storage (AWS or Azure), a real-time dashboard for monitoring, solar panels for power, and machine learning for anomaly detection. The diagram should clearly show the flow of data from sensors to the cloud, and the alert system for abnormal readings."/>
          <p:cNvSpPr>
            <a:spLocks noChangeAspect="1" noChangeArrowheads="1"/>
          </p:cNvSpPr>
          <p:nvPr/>
        </p:nvSpPr>
        <p:spPr bwMode="auto">
          <a:xfrm>
            <a:off x="6553200" y="3886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9" name="AutoShape 12" descr="A conceptual diagram of a water quality monitoring system. It includes water bodies, IoT sensors (pH, turbidity, dissolved oxygen, temperature), a wireless network (LoRa/Wi-Fi), cloud storage (AWS or Azure), a real-time dashboard for monitoring, solar panels for power, and machine learning for anomaly detection. The diagram should clearly show the flow of data from sensors to the cloud, and the alert system for abnormal readings."/>
          <p:cNvSpPr>
            <a:spLocks noChangeAspect="1" noChangeArrowheads="1"/>
          </p:cNvSpPr>
          <p:nvPr/>
        </p:nvSpPr>
        <p:spPr bwMode="auto">
          <a:xfrm>
            <a:off x="6705600" y="4038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10" name="AutoShape 14" descr="A conceptual diagram of a water quality monitoring system. It includes water bodies, IoT sensors (pH, turbidity, dissolved oxygen, temperature), a wireless network (LoRa/Wi-Fi), cloud storage (AWS or Azure), a real-time dashboard for monitoring, solar panels for power, and machine learning for anomaly detection. The diagram should clearly show the flow of data from sensors to the cloud, and the alert system for abnormal readings."/>
          <p:cNvSpPr>
            <a:spLocks noChangeAspect="1" noChangeArrowheads="1"/>
          </p:cNvSpPr>
          <p:nvPr/>
        </p:nvSpPr>
        <p:spPr bwMode="auto">
          <a:xfrm>
            <a:off x="6858000" y="4191000"/>
            <a:ext cx="304800" cy="39397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1BE5C6-F1B4-4058-A1D1-E6C7789A335B}" type="slidenum">
              <a:rPr lang="en-IN" smtClean="0"/>
              <a:t>6</a:t>
            </a:fld>
            <a:endParaRPr lang="en-IN"/>
          </a:p>
        </p:txBody>
      </p:sp>
      <p:sp>
        <p:nvSpPr>
          <p:cNvPr id="3" name="TextBox 2"/>
          <p:cNvSpPr txBox="1"/>
          <p:nvPr/>
        </p:nvSpPr>
        <p:spPr>
          <a:xfrm>
            <a:off x="586853" y="1173707"/>
            <a:ext cx="9730854" cy="4480073"/>
          </a:xfrm>
          <a:prstGeom prst="rect">
            <a:avLst/>
          </a:prstGeom>
          <a:noFill/>
        </p:spPr>
        <p:txBody>
          <a:bodyPr wrap="square">
            <a:spAutoFit/>
          </a:bodyPr>
          <a:lstStyle/>
          <a:p>
            <a:pPr>
              <a:lnSpc>
                <a:spcPct val="150000"/>
              </a:lnSpc>
            </a:pPr>
            <a:r>
              <a:rPr lang="en-US" sz="2400" dirty="0">
                <a:latin typeface="Times New Roman" panose="02020603050405020304" pitchFamily="18" charset="0"/>
                <a:cs typeface="Times New Roman" panose="02020603050405020304" pitchFamily="18" charset="0"/>
              </a:rPr>
              <a:t>This solution makes it feasible to continuously monitor water quality, addressing issues like the high cost and limited accessibility of commercial monitoring systems. The Arduino-based system is affordable, easy to replicate, and provides timely information, making it suitable for deployment in various water sources, such as rivers, lakes, and wells, especially in communities that lack regular water testing infrastructure.</a:t>
            </a:r>
          </a:p>
          <a:p>
            <a:pPr>
              <a:lnSpc>
                <a:spcPct val="150000"/>
              </a:lnSpc>
            </a:pPr>
            <a:br>
              <a:rPr lang="en-US" sz="1600" b="1" dirty="0">
                <a:latin typeface="Times New Roman" panose="02020603050405020304" pitchFamily="18" charset="0"/>
                <a:cs typeface="Times New Roman" panose="02020603050405020304" pitchFamily="18" charset="0"/>
              </a:rPr>
            </a:br>
            <a:br>
              <a:rPr lang="en-US" sz="1600" b="1"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p:txBody>
      </p:sp>
      <p:sp>
        <p:nvSpPr>
          <p:cNvPr id="2" name="AutoShape 2" descr="A conceptual diagram of a water quality monitoring system. It includes water bodies, IoT sensors (pH, turbidity, dissolved oxygen, temperature), a wireless network (LoRa/Wi-Fi), cloud storage (AWS or Azure), a real-time dashboard for monitoring, solar panels for power, and machine learning for anomaly detection. The diagram should clearly show the flow of data from sensors to the cloud, and the alert system for abnormal readings."/>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5" name="AutoShape 4" descr="A conceptual diagram of a water quality monitoring system. It includes water bodies, IoT sensors (pH, turbidity, dissolved oxygen, temperature), a wireless network (LoRa/Wi-Fi), cloud storage (AWS or Azure), a real-time dashboard for monitoring, solar panels for power, and machine learning for anomaly detection. The diagram should clearly show the flow of data from sensors to the cloud, and the alert system for abnormal readings."/>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6" name="AutoShape 6" descr="A conceptual diagram of a water quality monitoring system. It includes water bodies, IoT sensors (pH, turbidity, dissolved oxygen, temperature), a wireless network (LoRa/Wi-Fi), cloud storage (AWS or Azure), a real-time dashboard for monitoring, solar panels for power, and machine learning for anomaly detection. The diagram should clearly show the flow of data from sensors to the cloud, and the alert system for abnormal readings."/>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7" name="AutoShape 8" descr="A conceptual diagram of a water quality monitoring system. It includes water bodies, IoT sensors (pH, turbidity, dissolved oxygen, temperature), a wireless network (LoRa/Wi-Fi), cloud storage (AWS or Azure), a real-time dashboard for monitoring, solar panels for power, and machine learning for anomaly detection. The diagram should clearly show the flow of data from sensors to the cloud, and the alert system for abnormal readings."/>
          <p:cNvSpPr>
            <a:spLocks noChangeAspect="1" noChangeArrowheads="1"/>
          </p:cNvSpPr>
          <p:nvPr/>
        </p:nvSpPr>
        <p:spPr bwMode="auto">
          <a:xfrm>
            <a:off x="6400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8" name="AutoShape 10" descr="A conceptual diagram of a water quality monitoring system. It includes water bodies, IoT sensors (pH, turbidity, dissolved oxygen, temperature), a wireless network (LoRa/Wi-Fi), cloud storage (AWS or Azure), a real-time dashboard for monitoring, solar panels for power, and machine learning for anomaly detection. The diagram should clearly show the flow of data from sensors to the cloud, and the alert system for abnormal readings."/>
          <p:cNvSpPr>
            <a:spLocks noChangeAspect="1" noChangeArrowheads="1"/>
          </p:cNvSpPr>
          <p:nvPr/>
        </p:nvSpPr>
        <p:spPr bwMode="auto">
          <a:xfrm>
            <a:off x="6553200" y="3886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9" name="AutoShape 12" descr="A conceptual diagram of a water quality monitoring system. It includes water bodies, IoT sensors (pH, turbidity, dissolved oxygen, temperature), a wireless network (LoRa/Wi-Fi), cloud storage (AWS or Azure), a real-time dashboard for monitoring, solar panels for power, and machine learning for anomaly detection. The diagram should clearly show the flow of data from sensors to the cloud, and the alert system for abnormal readings."/>
          <p:cNvSpPr>
            <a:spLocks noChangeAspect="1" noChangeArrowheads="1"/>
          </p:cNvSpPr>
          <p:nvPr/>
        </p:nvSpPr>
        <p:spPr bwMode="auto">
          <a:xfrm>
            <a:off x="6705600" y="4038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10" name="AutoShape 14" descr="A conceptual diagram of a water quality monitoring system. It includes water bodies, IoT sensors (pH, turbidity, dissolved oxygen, temperature), a wireless network (LoRa/Wi-Fi), cloud storage (AWS or Azure), a real-time dashboard for monitoring, solar panels for power, and machine learning for anomaly detection. The diagram should clearly show the flow of data from sensors to the cloud, and the alert system for abnormal readings."/>
          <p:cNvSpPr>
            <a:spLocks noChangeAspect="1" noChangeArrowheads="1"/>
          </p:cNvSpPr>
          <p:nvPr/>
        </p:nvSpPr>
        <p:spPr bwMode="auto">
          <a:xfrm>
            <a:off x="6858000" y="4191000"/>
            <a:ext cx="304800" cy="39397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1BE5C6-F1B4-4058-A1D1-E6C7789A335B}" type="slidenum">
              <a:rPr lang="en-IN" smtClean="0"/>
              <a:t>7</a:t>
            </a:fld>
            <a:endParaRPr lang="en-IN"/>
          </a:p>
        </p:txBody>
      </p:sp>
      <p:sp>
        <p:nvSpPr>
          <p:cNvPr id="3" name="TextBox 2"/>
          <p:cNvSpPr txBox="1"/>
          <p:nvPr/>
        </p:nvSpPr>
        <p:spPr>
          <a:xfrm>
            <a:off x="1231900" y="324950"/>
            <a:ext cx="9423400" cy="1340752"/>
          </a:xfrm>
          <a:prstGeom prst="rect">
            <a:avLst/>
          </a:prstGeom>
          <a:noFill/>
        </p:spPr>
        <p:txBody>
          <a:bodyPr wrap="square">
            <a:spAutoFit/>
          </a:bodyPr>
          <a:lstStyle/>
          <a:p>
            <a:pPr>
              <a:lnSpc>
                <a:spcPct val="150000"/>
              </a:lnSpc>
            </a:pPr>
            <a:r>
              <a:rPr lang="en-US" sz="2400" b="1" dirty="0">
                <a:latin typeface="Times New Roman" panose="02020603050405020304" pitchFamily="18" charset="0"/>
                <a:cs typeface="Times New Roman" panose="02020603050405020304" pitchFamily="18" charset="0"/>
              </a:rPr>
              <a:t>A conceptual diagram</a:t>
            </a:r>
            <a:br>
              <a:rPr lang="en-US" sz="1600" b="1" dirty="0">
                <a:latin typeface="Times New Roman" panose="02020603050405020304" pitchFamily="18" charset="0"/>
                <a:cs typeface="Times New Roman" panose="02020603050405020304" pitchFamily="18" charset="0"/>
              </a:rPr>
            </a:br>
            <a:br>
              <a:rPr lang="en-US" sz="1600" b="1"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p:txBody>
      </p:sp>
      <p:sp>
        <p:nvSpPr>
          <p:cNvPr id="2" name="AutoShape 2" descr="A conceptual diagram of a water quality monitoring system. It includes water bodies, IoT sensors (pH, turbidity, dissolved oxygen, temperature), a wireless network (LoRa/Wi-Fi), cloud storage (AWS or Azure), a real-time dashboard for monitoring, solar panels for power, and machine learning for anomaly detection. The diagram should clearly show the flow of data from sensors to the cloud, and the alert system for abnormal readings."/>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5" name="AutoShape 4" descr="A conceptual diagram of a water quality monitoring system. It includes water bodies, IoT sensors (pH, turbidity, dissolved oxygen, temperature), a wireless network (LoRa/Wi-Fi), cloud storage (AWS or Azure), a real-time dashboard for monitoring, solar panels for power, and machine learning for anomaly detection. The diagram should clearly show the flow of data from sensors to the cloud, and the alert system for abnormal readings."/>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6" name="AutoShape 6" descr="A conceptual diagram of a water quality monitoring system. It includes water bodies, IoT sensors (pH, turbidity, dissolved oxygen, temperature), a wireless network (LoRa/Wi-Fi), cloud storage (AWS or Azure), a real-time dashboard for monitoring, solar panels for power, and machine learning for anomaly detection. The diagram should clearly show the flow of data from sensors to the cloud, and the alert system for abnormal readings."/>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7" name="AutoShape 8" descr="A conceptual diagram of a water quality monitoring system. It includes water bodies, IoT sensors (pH, turbidity, dissolved oxygen, temperature), a wireless network (LoRa/Wi-Fi), cloud storage (AWS or Azure), a real-time dashboard for monitoring, solar panels for power, and machine learning for anomaly detection. The diagram should clearly show the flow of data from sensors to the cloud, and the alert system for abnormal readings."/>
          <p:cNvSpPr>
            <a:spLocks noChangeAspect="1" noChangeArrowheads="1"/>
          </p:cNvSpPr>
          <p:nvPr/>
        </p:nvSpPr>
        <p:spPr bwMode="auto">
          <a:xfrm>
            <a:off x="6400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8" name="AutoShape 10" descr="A conceptual diagram of a water quality monitoring system. It includes water bodies, IoT sensors (pH, turbidity, dissolved oxygen, temperature), a wireless network (LoRa/Wi-Fi), cloud storage (AWS or Azure), a real-time dashboard for monitoring, solar panels for power, and machine learning for anomaly detection. The diagram should clearly show the flow of data from sensors to the cloud, and the alert system for abnormal readings."/>
          <p:cNvSpPr>
            <a:spLocks noChangeAspect="1" noChangeArrowheads="1"/>
          </p:cNvSpPr>
          <p:nvPr/>
        </p:nvSpPr>
        <p:spPr bwMode="auto">
          <a:xfrm>
            <a:off x="6553200" y="3886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9" name="AutoShape 12" descr="A conceptual diagram of a water quality monitoring system. It includes water bodies, IoT sensors (pH, turbidity, dissolved oxygen, temperature), a wireless network (LoRa/Wi-Fi), cloud storage (AWS or Azure), a real-time dashboard for monitoring, solar panels for power, and machine learning for anomaly detection. The diagram should clearly show the flow of data from sensors to the cloud, and the alert system for abnormal readings."/>
          <p:cNvSpPr>
            <a:spLocks noChangeAspect="1" noChangeArrowheads="1"/>
          </p:cNvSpPr>
          <p:nvPr/>
        </p:nvSpPr>
        <p:spPr bwMode="auto">
          <a:xfrm>
            <a:off x="6705600" y="4038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10" name="AutoShape 14" descr="A conceptual diagram of a water quality monitoring system. It includes water bodies, IoT sensors (pH, turbidity, dissolved oxygen, temperature), a wireless network (LoRa/Wi-Fi), cloud storage (AWS or Azure), a real-time dashboard for monitoring, solar panels for power, and machine learning for anomaly detection. The diagram should clearly show the flow of data from sensors to the cloud, and the alert system for abnormal readings."/>
          <p:cNvSpPr>
            <a:spLocks noChangeAspect="1" noChangeArrowheads="1"/>
          </p:cNvSpPr>
          <p:nvPr/>
        </p:nvSpPr>
        <p:spPr bwMode="auto">
          <a:xfrm>
            <a:off x="6858000" y="4191000"/>
            <a:ext cx="304800" cy="39397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pic>
        <p:nvPicPr>
          <p:cNvPr id="1032" name="Picture 8" descr="Water Quality Using Arduino And Turbidity Sens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6300" y="1231900"/>
            <a:ext cx="9423400" cy="43941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1BE5C6-F1B4-4058-A1D1-E6C7789A335B}" type="slidenum">
              <a:rPr lang="en-IN" smtClean="0"/>
              <a:t>8</a:t>
            </a:fld>
            <a:endParaRPr lang="en-IN"/>
          </a:p>
        </p:txBody>
      </p:sp>
      <p:sp>
        <p:nvSpPr>
          <p:cNvPr id="3" name="TextBox 2"/>
          <p:cNvSpPr txBox="1"/>
          <p:nvPr/>
        </p:nvSpPr>
        <p:spPr>
          <a:xfrm>
            <a:off x="152400" y="750627"/>
            <a:ext cx="11788588" cy="5006435"/>
          </a:xfrm>
          <a:prstGeom prst="rect">
            <a:avLst/>
          </a:prstGeom>
          <a:noFill/>
        </p:spPr>
        <p:txBody>
          <a:bodyPr wrap="square">
            <a:spAutoFit/>
          </a:bodyPr>
          <a:lstStyle/>
          <a:p>
            <a:pPr>
              <a:lnSpc>
                <a:spcPct val="150000"/>
              </a:lnSpc>
            </a:pPr>
            <a:r>
              <a:rPr lang="en-US" sz="2800" b="1" dirty="0">
                <a:latin typeface="Times New Roman" panose="02020603050405020304" pitchFamily="18" charset="0"/>
                <a:cs typeface="Times New Roman" panose="02020603050405020304" pitchFamily="18" charset="0"/>
              </a:rPr>
              <a:t>Design and Prototyping Process</a:t>
            </a:r>
          </a:p>
          <a:p>
            <a:pPr>
              <a:lnSpc>
                <a:spcPct val="150000"/>
              </a:lnSpc>
            </a:pPr>
            <a:r>
              <a:rPr lang="en-US" sz="2800" b="1" dirty="0">
                <a:latin typeface="Times New Roman" panose="02020603050405020304" pitchFamily="18" charset="0"/>
                <a:cs typeface="Times New Roman" panose="02020603050405020304" pitchFamily="18" charset="0"/>
              </a:rPr>
              <a:t>Title: </a:t>
            </a:r>
            <a:r>
              <a:rPr lang="en-US" sz="2600" dirty="0">
                <a:latin typeface="Times New Roman" panose="02020603050405020304" pitchFamily="18" charset="0"/>
                <a:cs typeface="Times New Roman" panose="02020603050405020304" pitchFamily="18" charset="0"/>
              </a:rPr>
              <a:t>Design &amp; Prototyping Process</a:t>
            </a:r>
          </a:p>
          <a:p>
            <a:pPr marL="457200" indent="-457200">
              <a:lnSpc>
                <a:spcPct val="150000"/>
              </a:lnSpc>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Research (Weeks 1–2)</a:t>
            </a:r>
          </a:p>
          <a:p>
            <a:pPr>
              <a:lnSpc>
                <a:spcPct val="150000"/>
              </a:lnSpc>
            </a:pPr>
            <a:r>
              <a:rPr lang="en-US" sz="2600" dirty="0">
                <a:latin typeface="Times New Roman" panose="02020603050405020304" pitchFamily="18" charset="0"/>
                <a:cs typeface="Times New Roman" panose="02020603050405020304" pitchFamily="18" charset="0"/>
              </a:rPr>
              <a:t>Studied water quality parameters and existing monitoring solutions.</a:t>
            </a:r>
          </a:p>
          <a:p>
            <a:pPr>
              <a:lnSpc>
                <a:spcPct val="150000"/>
              </a:lnSpc>
            </a:pPr>
            <a:r>
              <a:rPr lang="en-US" sz="2600" dirty="0">
                <a:latin typeface="Times New Roman" panose="02020603050405020304" pitchFamily="18" charset="0"/>
                <a:cs typeface="Times New Roman" panose="02020603050405020304" pitchFamily="18" charset="0"/>
              </a:rPr>
              <a:t>Selected affordable, reliable sensors compatible with Arduino.</a:t>
            </a:r>
          </a:p>
          <a:p>
            <a:pPr marL="457200" indent="-457200">
              <a:lnSpc>
                <a:spcPct val="150000"/>
              </a:lnSpc>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Brainstorming &amp; Initial Design (Weeks 3–4)</a:t>
            </a:r>
          </a:p>
          <a:p>
            <a:pPr>
              <a:lnSpc>
                <a:spcPct val="150000"/>
              </a:lnSpc>
            </a:pPr>
            <a:r>
              <a:rPr lang="en-US" sz="2600" dirty="0">
                <a:latin typeface="Times New Roman" panose="02020603050405020304" pitchFamily="18" charset="0"/>
                <a:cs typeface="Times New Roman" panose="02020603050405020304" pitchFamily="18" charset="0"/>
              </a:rPr>
              <a:t>Conceptualized system architecture and power options.</a:t>
            </a:r>
          </a:p>
          <a:p>
            <a:pPr>
              <a:lnSpc>
                <a:spcPct val="150000"/>
              </a:lnSpc>
            </a:pPr>
            <a:r>
              <a:rPr lang="en-US" sz="2600" dirty="0">
                <a:latin typeface="Times New Roman" panose="02020603050405020304" pitchFamily="18" charset="0"/>
                <a:cs typeface="Times New Roman" panose="02020603050405020304" pitchFamily="18" charset="0"/>
              </a:rPr>
              <a:t>Developed initial wiring and data handling configurations.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1BE5C6-F1B4-4058-A1D1-E6C7789A335B}" type="slidenum">
              <a:rPr lang="en-IN" smtClean="0"/>
              <a:t>9</a:t>
            </a:fld>
            <a:endParaRPr lang="en-IN"/>
          </a:p>
        </p:txBody>
      </p:sp>
      <p:sp>
        <p:nvSpPr>
          <p:cNvPr id="3" name="TextBox 2"/>
          <p:cNvSpPr txBox="1"/>
          <p:nvPr/>
        </p:nvSpPr>
        <p:spPr>
          <a:xfrm>
            <a:off x="152400" y="736979"/>
            <a:ext cx="11775743" cy="6128079"/>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Prototyping &amp; Testing (Weeks 5–8)</a:t>
            </a:r>
          </a:p>
          <a:p>
            <a:pPr>
              <a:lnSpc>
                <a:spcPct val="150000"/>
              </a:lnSpc>
            </a:pPr>
            <a:r>
              <a:rPr lang="en-US" sz="2600" dirty="0">
                <a:latin typeface="Times New Roman" panose="02020603050405020304" pitchFamily="18" charset="0"/>
                <a:cs typeface="Times New Roman" panose="02020603050405020304" pitchFamily="18" charset="0"/>
              </a:rPr>
              <a:t>Built the first prototype, assembled sensors, and tested in sample water.</a:t>
            </a:r>
          </a:p>
          <a:p>
            <a:pPr>
              <a:lnSpc>
                <a:spcPct val="150000"/>
              </a:lnSpc>
            </a:pPr>
            <a:r>
              <a:rPr lang="en-US" sz="2600" dirty="0">
                <a:latin typeface="Times New Roman" panose="02020603050405020304" pitchFamily="18" charset="0"/>
                <a:cs typeface="Times New Roman" panose="02020603050405020304" pitchFamily="18" charset="0"/>
              </a:rPr>
              <a:t>Validated sensor accuracy and improved calibration.</a:t>
            </a:r>
          </a:p>
          <a:p>
            <a:pPr marL="457200" indent="-457200">
              <a:lnSpc>
                <a:spcPct val="150000"/>
              </a:lnSpc>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Iteration &amp; Refinement (Weeks 9–10)</a:t>
            </a:r>
          </a:p>
          <a:p>
            <a:pPr>
              <a:lnSpc>
                <a:spcPct val="150000"/>
              </a:lnSpc>
            </a:pPr>
            <a:r>
              <a:rPr lang="en-US" sz="2600" dirty="0">
                <a:latin typeface="Times New Roman" panose="02020603050405020304" pitchFamily="18" charset="0"/>
                <a:cs typeface="Times New Roman" panose="02020603050405020304" pitchFamily="18" charset="0"/>
              </a:rPr>
              <a:t>Optimized sensor placement and added GSM for remote alerts.</a:t>
            </a:r>
          </a:p>
          <a:p>
            <a:pPr>
              <a:lnSpc>
                <a:spcPct val="150000"/>
              </a:lnSpc>
            </a:pPr>
            <a:r>
              <a:rPr lang="en-US" sz="2600" dirty="0">
                <a:latin typeface="Times New Roman" panose="02020603050405020304" pitchFamily="18" charset="0"/>
                <a:cs typeface="Times New Roman" panose="02020603050405020304" pitchFamily="18" charset="0"/>
              </a:rPr>
              <a:t>Created a basic web interface for data visualization.</a:t>
            </a:r>
          </a:p>
          <a:p>
            <a:pPr marL="457200" indent="-457200">
              <a:lnSpc>
                <a:spcPct val="150000"/>
              </a:lnSpc>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Final Design &amp; Documentation (Weeks 11–12)</a:t>
            </a:r>
          </a:p>
          <a:p>
            <a:pPr>
              <a:lnSpc>
                <a:spcPct val="150000"/>
              </a:lnSpc>
            </a:pPr>
            <a:r>
              <a:rPr lang="en-US" sz="2600" dirty="0">
                <a:latin typeface="Times New Roman" panose="02020603050405020304" pitchFamily="18" charset="0"/>
                <a:cs typeface="Times New Roman" panose="02020603050405020304" pitchFamily="18" charset="0"/>
              </a:rPr>
              <a:t>Finalized assembly, documented specs, and prepared a user guide.</a:t>
            </a:r>
          </a:p>
          <a:p>
            <a:pPr>
              <a:lnSpc>
                <a:spcPct val="150000"/>
              </a:lnSpc>
            </a:pPr>
            <a:br>
              <a:rPr lang="en-US" sz="2600" dirty="0">
                <a:latin typeface="Times New Roman" panose="02020603050405020304" pitchFamily="18" charset="0"/>
                <a:cs typeface="Times New Roman" panose="02020603050405020304" pitchFamily="18" charset="0"/>
              </a:rPr>
            </a:br>
            <a:endParaRPr lang="en-US" sz="2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1BE5C6-F1B4-4058-A1D1-E6C7789A335B}" type="slidenum">
              <a:rPr lang="en-IN" smtClean="0"/>
              <a:t>10</a:t>
            </a:fld>
            <a:endParaRPr lang="en-IN"/>
          </a:p>
        </p:txBody>
      </p:sp>
      <p:sp>
        <p:nvSpPr>
          <p:cNvPr id="3" name="TextBox 2"/>
          <p:cNvSpPr txBox="1"/>
          <p:nvPr/>
        </p:nvSpPr>
        <p:spPr>
          <a:xfrm>
            <a:off x="152400" y="256435"/>
            <a:ext cx="10672549" cy="7945637"/>
          </a:xfrm>
          <a:prstGeom prst="rect">
            <a:avLst/>
          </a:prstGeom>
          <a:noFill/>
        </p:spPr>
        <p:txBody>
          <a:bodyPr wrap="square">
            <a:spAutoFit/>
          </a:bodyPr>
          <a:lstStyle/>
          <a:p>
            <a:pPr>
              <a:lnSpc>
                <a:spcPct val="150000"/>
              </a:lnSpc>
            </a:pPr>
            <a:r>
              <a:rPr lang="en-US" sz="2800" b="1" dirty="0">
                <a:latin typeface="Times New Roman" panose="02020603050405020304" pitchFamily="18" charset="0"/>
                <a:cs typeface="Times New Roman" panose="02020603050405020304" pitchFamily="18" charset="0"/>
              </a:rPr>
              <a:t>Technical Details</a:t>
            </a:r>
          </a:p>
          <a:p>
            <a:pPr>
              <a:lnSpc>
                <a:spcPct val="150000"/>
              </a:lnSpc>
            </a:pPr>
            <a:r>
              <a:rPr lang="en-US" sz="2600" b="1" dirty="0">
                <a:latin typeface="Times New Roman" panose="02020603050405020304" pitchFamily="18" charset="0"/>
                <a:cs typeface="Times New Roman" panose="02020603050405020304" pitchFamily="18" charset="0"/>
              </a:rPr>
              <a:t>Title:</a:t>
            </a:r>
            <a:r>
              <a:rPr lang="en-IN" sz="2800" dirty="0"/>
              <a:t> “</a:t>
            </a:r>
            <a:r>
              <a:rPr lang="en-IN" sz="2400" dirty="0"/>
              <a:t>Sensors, Data Collection</a:t>
            </a:r>
            <a:r>
              <a:rPr lang="en-IN" sz="2800" dirty="0"/>
              <a:t>”</a:t>
            </a:r>
            <a:endParaRPr lang="en-US" sz="2600" dirty="0">
              <a:latin typeface="Times New Roman" panose="02020603050405020304" pitchFamily="18" charset="0"/>
              <a:cs typeface="Times New Roman" panose="02020603050405020304" pitchFamily="18" charset="0"/>
            </a:endParaRPr>
          </a:p>
          <a:p>
            <a:pPr>
              <a:lnSpc>
                <a:spcPct val="150000"/>
              </a:lnSpc>
            </a:pPr>
            <a:r>
              <a:rPr lang="en-US" sz="2400" b="1" dirty="0">
                <a:latin typeface="Times New Roman" panose="02020603050405020304" pitchFamily="18" charset="0"/>
                <a:cs typeface="Times New Roman" panose="02020603050405020304" pitchFamily="18" charset="0"/>
              </a:rPr>
              <a:t>Content: </a:t>
            </a:r>
            <a:r>
              <a:rPr lang="en-US" sz="2400" dirty="0">
                <a:latin typeface="Times New Roman" panose="02020603050405020304" pitchFamily="18" charset="0"/>
                <a:cs typeface="Times New Roman" panose="02020603050405020304" pitchFamily="18" charset="0"/>
              </a:rPr>
              <a:t>Hardware Components</a:t>
            </a:r>
          </a:p>
          <a:p>
            <a:pPr algn="l"/>
            <a:r>
              <a:rPr lang="en-US" sz="2000" dirty="0"/>
              <a:t>1)Solderless breadboard -1</a:t>
            </a:r>
          </a:p>
          <a:p>
            <a:pPr algn="l"/>
            <a:r>
              <a:rPr lang="en-US" sz="2000" dirty="0"/>
              <a:t>2)16×2 LCD display – 1</a:t>
            </a:r>
          </a:p>
          <a:p>
            <a:pPr algn="l"/>
            <a:r>
              <a:rPr lang="en-US" sz="2000" dirty="0"/>
              <a:t>3)Hard Jumper Wire 1 meter</a:t>
            </a:r>
          </a:p>
          <a:p>
            <a:pPr algn="l"/>
            <a:r>
              <a:rPr lang="en-US" sz="2000" dirty="0"/>
              <a:t>4)5 PC 100R / 100 Ohm Resistance-1</a:t>
            </a:r>
          </a:p>
          <a:p>
            <a:pPr algn="l"/>
            <a:r>
              <a:rPr lang="en-US" sz="2000" dirty="0"/>
              <a:t>5)10k Variable Resistor – 10k Potentiometer</a:t>
            </a:r>
          </a:p>
          <a:p>
            <a:pPr algn="l"/>
            <a:r>
              <a:rPr lang="en-US" sz="2000" dirty="0"/>
              <a:t>6)Arduino Uno-1</a:t>
            </a:r>
          </a:p>
          <a:p>
            <a:pPr algn="l"/>
            <a:r>
              <a:rPr lang="en-US" sz="2000" dirty="0"/>
              <a:t>7)Male to Male Jumper Wires-10</a:t>
            </a:r>
          </a:p>
          <a:p>
            <a:pPr algn="l"/>
            <a:r>
              <a:rPr lang="en-US" sz="2000" dirty="0"/>
              <a:t>8)Turbidity Sensor  Module-1</a:t>
            </a:r>
          </a:p>
          <a:p>
            <a:pPr algn="l"/>
            <a:r>
              <a:rPr lang="en-US" sz="2000" dirty="0"/>
              <a:t>9)Male to Female jumper Wires-10</a:t>
            </a:r>
          </a:p>
          <a:p>
            <a:pPr>
              <a:lnSpc>
                <a:spcPct val="150000"/>
              </a:lnSpc>
            </a:pPr>
            <a:r>
              <a:rPr lang="en-US" sz="2000" b="1" dirty="0">
                <a:latin typeface="Times New Roman" panose="02020603050405020304" pitchFamily="18" charset="0"/>
                <a:cs typeface="Times New Roman" panose="02020603050405020304" pitchFamily="18" charset="0"/>
              </a:rPr>
              <a:t>Software</a:t>
            </a:r>
          </a:p>
          <a:p>
            <a:pPr>
              <a:lnSpc>
                <a:spcPct val="150000"/>
              </a:lnSpc>
            </a:pPr>
            <a:r>
              <a:rPr lang="en-US" sz="2000" dirty="0">
                <a:latin typeface="Times New Roman" panose="02020603050405020304" pitchFamily="18" charset="0"/>
                <a:cs typeface="Times New Roman" panose="02020603050405020304" pitchFamily="18" charset="0"/>
              </a:rPr>
              <a:t>Development Environment: Arduino IDE</a:t>
            </a:r>
          </a:p>
          <a:p>
            <a:pPr>
              <a:lnSpc>
                <a:spcPct val="150000"/>
              </a:lnSpc>
            </a:pPr>
            <a:r>
              <a:rPr lang="en-US" sz="2000" dirty="0">
                <a:latin typeface="Times New Roman" panose="02020603050405020304" pitchFamily="18" charset="0"/>
                <a:cs typeface="Times New Roman" panose="02020603050405020304" pitchFamily="18" charset="0"/>
              </a:rPr>
              <a:t>Programming Language: C/C++</a:t>
            </a:r>
          </a:p>
          <a:p>
            <a:pPr>
              <a:lnSpc>
                <a:spcPct val="150000"/>
              </a:lnSpc>
            </a:pPr>
            <a:br>
              <a:rPr lang="en-US" sz="2600" b="1" dirty="0">
                <a:latin typeface="Times New Roman" panose="02020603050405020304" pitchFamily="18" charset="0"/>
                <a:cs typeface="Times New Roman" panose="02020603050405020304" pitchFamily="18" charset="0"/>
              </a:rPr>
            </a:br>
            <a:br>
              <a:rPr lang="en-US" sz="2600" b="1" dirty="0">
                <a:latin typeface="Times New Roman" panose="02020603050405020304" pitchFamily="18" charset="0"/>
                <a:cs typeface="Times New Roman" panose="02020603050405020304" pitchFamily="18" charset="0"/>
              </a:rPr>
            </a:br>
            <a:endParaRPr lang="en-US" sz="2600" dirty="0">
              <a:latin typeface="Times New Roman" panose="02020603050405020304" pitchFamily="18" charset="0"/>
              <a:cs typeface="Times New Roman" panose="02020603050405020304" pitchFamily="18" charset="0"/>
            </a:endParaRPr>
          </a:p>
        </p:txBody>
      </p:sp>
      <p:sp>
        <p:nvSpPr>
          <p:cNvPr id="2" name="Rectangle 1"/>
          <p:cNvSpPr>
            <a:spLocks noChangeArrowheads="1"/>
          </p:cNvSpPr>
          <p:nvPr/>
        </p:nvSpPr>
        <p:spPr bwMode="auto">
          <a:xfrm flipV="1">
            <a:off x="2290916" y="184666"/>
            <a:ext cx="4355690" cy="19489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p:cNvSpPr>
            <a:spLocks noChangeArrowheads="1"/>
          </p:cNvSpPr>
          <p:nvPr/>
        </p:nvSpPr>
        <p:spPr bwMode="auto">
          <a:xfrm>
            <a:off x="5574890" y="843283"/>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1BE5C6-F1B4-4058-A1D1-E6C7789A335B}" type="slidenum">
              <a:rPr lang="en-IN" smtClean="0"/>
              <a:t>11</a:t>
            </a:fld>
            <a:endParaRPr lang="en-IN"/>
          </a:p>
        </p:txBody>
      </p:sp>
      <p:sp>
        <p:nvSpPr>
          <p:cNvPr id="5" name="TextBox 4"/>
          <p:cNvSpPr txBox="1"/>
          <p:nvPr/>
        </p:nvSpPr>
        <p:spPr>
          <a:xfrm>
            <a:off x="539015" y="596900"/>
            <a:ext cx="10805260" cy="6231255"/>
          </a:xfrm>
          <a:prstGeom prst="rect">
            <a:avLst/>
          </a:prstGeom>
          <a:noFill/>
        </p:spPr>
        <p:txBody>
          <a:bodyPr wrap="square">
            <a:spAutoFit/>
          </a:bodyPr>
          <a:lstStyle/>
          <a:p>
            <a:pPr>
              <a:lnSpc>
                <a:spcPct val="150000"/>
              </a:lnSpc>
            </a:pPr>
            <a:r>
              <a:rPr lang="en-US" sz="2600" b="1" dirty="0">
                <a:latin typeface="Times New Roman" panose="02020603050405020304" pitchFamily="18" charset="0"/>
                <a:cs typeface="Times New Roman" panose="02020603050405020304" pitchFamily="18" charset="0"/>
              </a:rPr>
              <a:t>Roles and Responsibilities</a:t>
            </a:r>
          </a:p>
          <a:p>
            <a:pPr>
              <a:lnSpc>
                <a:spcPct val="150000"/>
              </a:lnSpc>
            </a:pPr>
            <a:r>
              <a:rPr lang="en-US" sz="2600" b="1" dirty="0">
                <a:latin typeface="Times New Roman" panose="02020603050405020304" pitchFamily="18" charset="0"/>
                <a:cs typeface="Times New Roman" panose="02020603050405020304" pitchFamily="18" charset="0"/>
              </a:rPr>
              <a:t>Title:</a:t>
            </a:r>
            <a:r>
              <a:rPr lang="en-US" sz="2600" dirty="0">
                <a:latin typeface="Times New Roman" panose="02020603050405020304" pitchFamily="18" charset="0"/>
                <a:cs typeface="Times New Roman" panose="02020603050405020304" pitchFamily="18" charset="0"/>
              </a:rPr>
              <a:t> Roles &amp; Responsibilities</a:t>
            </a:r>
            <a:br>
              <a:rPr lang="en-IN" sz="2800" dirty="0"/>
            </a:br>
            <a:r>
              <a:rPr lang="en-IN" sz="2400" b="1" dirty="0"/>
              <a:t>1. </a:t>
            </a:r>
            <a:r>
              <a:rPr lang="en-US" altLang="en-IN" sz="2400" b="1" dirty="0"/>
              <a:t>Sirisha</a:t>
            </a:r>
            <a:endParaRPr lang="en-IN" sz="2400" b="1" dirty="0"/>
          </a:p>
          <a:p>
            <a:pPr>
              <a:lnSpc>
                <a:spcPct val="150000"/>
              </a:lnSpc>
            </a:pPr>
            <a:r>
              <a:rPr lang="en-IN" sz="2000" b="1" dirty="0">
                <a:latin typeface="Times New Roman" panose="02020603050405020304" pitchFamily="18" charset="0"/>
                <a:cs typeface="Times New Roman" panose="02020603050405020304" pitchFamily="18" charset="0"/>
              </a:rPr>
              <a:t>Role: </a:t>
            </a:r>
            <a:r>
              <a:rPr lang="en-IN" sz="2000" dirty="0">
                <a:latin typeface="Times New Roman" panose="02020603050405020304" pitchFamily="18" charset="0"/>
                <a:cs typeface="Times New Roman" panose="02020603050405020304" pitchFamily="18" charset="0"/>
              </a:rPr>
              <a:t>Kept the project on track and made sure we met deadlines.</a:t>
            </a:r>
          </a:p>
          <a:p>
            <a:pPr>
              <a:lnSpc>
                <a:spcPct val="150000"/>
              </a:lnSpc>
            </a:pPr>
            <a:r>
              <a:rPr lang="en-IN" sz="2000" b="1" dirty="0">
                <a:latin typeface="Times New Roman" panose="02020603050405020304" pitchFamily="18" charset="0"/>
                <a:cs typeface="Times New Roman" panose="02020603050405020304" pitchFamily="18" charset="0"/>
              </a:rPr>
              <a:t>Contributions: </a:t>
            </a:r>
            <a:r>
              <a:rPr lang="en-IN" sz="2000" dirty="0">
                <a:latin typeface="Times New Roman" panose="02020603050405020304" pitchFamily="18" charset="0"/>
                <a:cs typeface="Times New Roman" panose="02020603050405020304" pitchFamily="18" charset="0"/>
              </a:rPr>
              <a:t>Organized tasks, coordinated between hardware and software, and ensured everything came together smoothly.</a:t>
            </a:r>
          </a:p>
          <a:p>
            <a:pPr>
              <a:lnSpc>
                <a:spcPct val="150000"/>
              </a:lnSpc>
            </a:pPr>
            <a:r>
              <a:rPr lang="en-IN" sz="2400" b="1" dirty="0"/>
              <a:t>2.</a:t>
            </a:r>
            <a:r>
              <a:rPr lang="en-US" altLang="en-IN" sz="2400" b="1" dirty="0"/>
              <a:t>Navya</a:t>
            </a:r>
            <a:endParaRPr lang="en-IN" sz="2400" b="1" dirty="0"/>
          </a:p>
          <a:p>
            <a:pPr>
              <a:lnSpc>
                <a:spcPct val="150000"/>
              </a:lnSpc>
            </a:pPr>
            <a:r>
              <a:rPr lang="en-IN" sz="2000" b="1" dirty="0">
                <a:latin typeface="Times New Roman" panose="02020603050405020304" pitchFamily="18" charset="0"/>
                <a:cs typeface="Times New Roman" panose="02020603050405020304" pitchFamily="18" charset="0"/>
              </a:rPr>
              <a:t>Role: </a:t>
            </a:r>
            <a:r>
              <a:rPr lang="en-IN" sz="2000" dirty="0">
                <a:latin typeface="Times New Roman" panose="02020603050405020304" pitchFamily="18" charset="0"/>
                <a:cs typeface="Times New Roman" panose="02020603050405020304" pitchFamily="18" charset="0"/>
              </a:rPr>
              <a:t>Set up all the sensors and other hardware components.</a:t>
            </a:r>
          </a:p>
          <a:p>
            <a:pPr>
              <a:lnSpc>
                <a:spcPct val="150000"/>
              </a:lnSpc>
            </a:pPr>
            <a:r>
              <a:rPr lang="en-IN" sz="2000" b="1" dirty="0">
                <a:latin typeface="Times New Roman" panose="02020603050405020304" pitchFamily="18" charset="0"/>
                <a:cs typeface="Times New Roman" panose="02020603050405020304" pitchFamily="18" charset="0"/>
              </a:rPr>
              <a:t>Contributions: </a:t>
            </a:r>
            <a:r>
              <a:rPr lang="en-IN" sz="2000" dirty="0">
                <a:latin typeface="Times New Roman" panose="02020603050405020304" pitchFamily="18" charset="0"/>
                <a:cs typeface="Times New Roman" panose="02020603050405020304" pitchFamily="18" charset="0"/>
              </a:rPr>
              <a:t>Chose and calibrated sensors, assembled the setup, and tested everything to ensure accuracy.</a:t>
            </a:r>
          </a:p>
          <a:p>
            <a:pPr>
              <a:lnSpc>
                <a:spcPct val="150000"/>
              </a:lnSpc>
            </a:pPr>
            <a:endParaRPr lang="en-IN" sz="2000" dirty="0"/>
          </a:p>
          <a:p>
            <a:pPr>
              <a:lnSpc>
                <a:spcPct val="150000"/>
              </a:lnSpc>
            </a:pPr>
            <a:endParaRPr lang="en-US" sz="2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1BE5C6-F1B4-4058-A1D1-E6C7789A335B}" type="slidenum">
              <a:rPr lang="en-IN" smtClean="0"/>
              <a:t>12</a:t>
            </a:fld>
            <a:endParaRPr lang="en-IN"/>
          </a:p>
        </p:txBody>
      </p:sp>
      <p:sp>
        <p:nvSpPr>
          <p:cNvPr id="5" name="TextBox 4"/>
          <p:cNvSpPr txBox="1"/>
          <p:nvPr/>
        </p:nvSpPr>
        <p:spPr>
          <a:xfrm>
            <a:off x="578452" y="67512"/>
            <a:ext cx="10823574" cy="6600825"/>
          </a:xfrm>
          <a:prstGeom prst="rect">
            <a:avLst/>
          </a:prstGeom>
          <a:noFill/>
        </p:spPr>
        <p:txBody>
          <a:bodyPr wrap="square">
            <a:spAutoFit/>
          </a:bodyPr>
          <a:lstStyle/>
          <a:p>
            <a:pPr>
              <a:lnSpc>
                <a:spcPct val="150000"/>
              </a:lnSpc>
            </a:pPr>
            <a:r>
              <a:rPr lang="en-US" sz="2600" b="1" dirty="0">
                <a:latin typeface="Times New Roman" panose="02020603050405020304" pitchFamily="18" charset="0"/>
                <a:cs typeface="Times New Roman" panose="02020603050405020304" pitchFamily="18" charset="0"/>
              </a:rPr>
              <a:t>3. Divya Reddy</a:t>
            </a:r>
            <a:endParaRPr lang="en-US" sz="2400" b="1" dirty="0">
              <a:latin typeface="Times New Roman" panose="02020603050405020304" pitchFamily="18" charset="0"/>
              <a:cs typeface="Times New Roman" panose="02020603050405020304" pitchFamily="18" charset="0"/>
            </a:endParaRPr>
          </a:p>
          <a:p>
            <a:pPr>
              <a:lnSpc>
                <a:spcPct val="150000"/>
              </a:lnSpc>
            </a:pPr>
            <a:r>
              <a:rPr lang="en-US" sz="2000" b="1" dirty="0">
                <a:latin typeface="Times New Roman" panose="02020603050405020304" pitchFamily="18" charset="0"/>
                <a:cs typeface="Times New Roman" panose="02020603050405020304" pitchFamily="18" charset="0"/>
              </a:rPr>
              <a:t>Role: </a:t>
            </a:r>
            <a:r>
              <a:rPr lang="en-US" sz="2000" dirty="0">
                <a:latin typeface="Times New Roman" panose="02020603050405020304" pitchFamily="18" charset="0"/>
                <a:cs typeface="Times New Roman" panose="02020603050405020304" pitchFamily="18" charset="0"/>
              </a:rPr>
              <a:t>Programmed the Arduino and managed data handling.</a:t>
            </a:r>
          </a:p>
          <a:p>
            <a:pPr>
              <a:lnSpc>
                <a:spcPct val="150000"/>
              </a:lnSpc>
            </a:pPr>
            <a:r>
              <a:rPr lang="en-US" sz="2000" b="1" dirty="0">
                <a:latin typeface="Times New Roman" panose="02020603050405020304" pitchFamily="18" charset="0"/>
                <a:cs typeface="Times New Roman" panose="02020603050405020304" pitchFamily="18" charset="0"/>
              </a:rPr>
              <a:t>Contributions: </a:t>
            </a:r>
            <a:r>
              <a:rPr lang="en-US" sz="2000" dirty="0">
                <a:latin typeface="Times New Roman" panose="02020603050405020304" pitchFamily="18" charset="0"/>
                <a:cs typeface="Times New Roman" panose="02020603050405020304" pitchFamily="18" charset="0"/>
              </a:rPr>
              <a:t>Wrote code to capture, store, and send sensor data; set up GSM for remote alerts.</a:t>
            </a:r>
          </a:p>
          <a:p>
            <a:pPr>
              <a:lnSpc>
                <a:spcPct val="150000"/>
              </a:lnSpc>
            </a:pPr>
            <a:r>
              <a:rPr lang="en-US" sz="2600" b="1" dirty="0">
                <a:latin typeface="Times New Roman" panose="02020603050405020304" pitchFamily="18" charset="0"/>
                <a:cs typeface="Times New Roman" panose="02020603050405020304" pitchFamily="18" charset="0"/>
              </a:rPr>
              <a:t>4.</a:t>
            </a:r>
            <a:r>
              <a:rPr lang="en-US" sz="2600"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Likitha</a:t>
            </a:r>
            <a:endParaRPr lang="en-US" sz="2400" b="1" dirty="0">
              <a:latin typeface="Times New Roman" panose="02020603050405020304" pitchFamily="18" charset="0"/>
              <a:cs typeface="Times New Roman" panose="02020603050405020304" pitchFamily="18" charset="0"/>
            </a:endParaRPr>
          </a:p>
          <a:p>
            <a:pPr>
              <a:lnSpc>
                <a:spcPct val="150000"/>
              </a:lnSpc>
            </a:pPr>
            <a:r>
              <a:rPr lang="en-US" sz="2000" b="1" dirty="0">
                <a:latin typeface="Times New Roman" panose="02020603050405020304" pitchFamily="18" charset="0"/>
                <a:cs typeface="Times New Roman" panose="02020603050405020304" pitchFamily="18" charset="0"/>
              </a:rPr>
              <a:t>Role: </a:t>
            </a:r>
            <a:r>
              <a:rPr lang="en-US" sz="2000" dirty="0">
                <a:latin typeface="Times New Roman" panose="02020603050405020304" pitchFamily="18" charset="0"/>
                <a:cs typeface="Times New Roman" panose="02020603050405020304" pitchFamily="18" charset="0"/>
              </a:rPr>
              <a:t>Handled data analysis and designed the online dashboard.</a:t>
            </a:r>
          </a:p>
          <a:p>
            <a:pPr>
              <a:lnSpc>
                <a:spcPct val="150000"/>
              </a:lnSpc>
            </a:pPr>
            <a:r>
              <a:rPr lang="en-US" sz="2000" b="1" dirty="0">
                <a:latin typeface="Times New Roman" panose="02020603050405020304" pitchFamily="18" charset="0"/>
                <a:cs typeface="Times New Roman" panose="02020603050405020304" pitchFamily="18" charset="0"/>
              </a:rPr>
              <a:t>Contributions: </a:t>
            </a:r>
            <a:r>
              <a:rPr lang="en-US" sz="2000" dirty="0">
                <a:latin typeface="Times New Roman" panose="02020603050405020304" pitchFamily="18" charset="0"/>
                <a:cs typeface="Times New Roman" panose="02020603050405020304" pitchFamily="18" charset="0"/>
              </a:rPr>
              <a:t>Created alerts for unsafe water levels and designed a user-friendly dashboard to display water quality data.</a:t>
            </a:r>
          </a:p>
          <a:p>
            <a:pPr>
              <a:lnSpc>
                <a:spcPct val="150000"/>
              </a:lnSpc>
            </a:pPr>
            <a:r>
              <a:rPr lang="en-US" sz="2400" b="1" dirty="0">
                <a:latin typeface="Times New Roman" panose="02020603050405020304" pitchFamily="18" charset="0"/>
                <a:cs typeface="Times New Roman" panose="02020603050405020304" pitchFamily="18" charset="0"/>
              </a:rPr>
              <a:t>5. Gowthami</a:t>
            </a:r>
          </a:p>
          <a:p>
            <a:pPr>
              <a:lnSpc>
                <a:spcPct val="150000"/>
              </a:lnSpc>
            </a:pPr>
            <a:r>
              <a:rPr lang="en-US" sz="2000" b="1" dirty="0">
                <a:latin typeface="Times New Roman" panose="02020603050405020304" pitchFamily="18" charset="0"/>
                <a:cs typeface="Times New Roman" panose="02020603050405020304" pitchFamily="18" charset="0"/>
              </a:rPr>
              <a:t>Role: </a:t>
            </a:r>
            <a:r>
              <a:rPr lang="en-US" sz="2000" dirty="0">
                <a:latin typeface="Times New Roman" panose="02020603050405020304" pitchFamily="18" charset="0"/>
                <a:cs typeface="Times New Roman" panose="02020603050405020304" pitchFamily="18" charset="0"/>
              </a:rPr>
              <a:t>Documented the process and tested each feature.</a:t>
            </a:r>
          </a:p>
          <a:p>
            <a:pPr>
              <a:lnSpc>
                <a:spcPct val="150000"/>
              </a:lnSpc>
            </a:pPr>
            <a:r>
              <a:rPr lang="en-US" sz="2000" b="1" dirty="0">
                <a:latin typeface="Times New Roman" panose="02020603050405020304" pitchFamily="18" charset="0"/>
                <a:cs typeface="Times New Roman" panose="02020603050405020304" pitchFamily="18" charset="0"/>
              </a:rPr>
              <a:t>Contributions: </a:t>
            </a:r>
            <a:r>
              <a:rPr lang="en-US" sz="2000" dirty="0">
                <a:latin typeface="Times New Roman" panose="02020603050405020304" pitchFamily="18" charset="0"/>
                <a:cs typeface="Times New Roman" panose="02020603050405020304" pitchFamily="18" charset="0"/>
              </a:rPr>
              <a:t>Wrote guides, organized testing, and made sure every component worked as planned.</a:t>
            </a:r>
          </a:p>
          <a:p>
            <a:pPr>
              <a:lnSpc>
                <a:spcPct val="150000"/>
              </a:lnSpc>
            </a:pPr>
            <a:r>
              <a:rPr lang="en-US" sz="2000" dirty="0">
                <a:latin typeface="Times New Roman" panose="02020603050405020304" pitchFamily="18" charset="0"/>
                <a:cs typeface="Times New Roman" panose="02020603050405020304" pitchFamily="18" charset="0"/>
              </a:rPr>
              <a:t>Each of us contributed uniquely, combining our skills to develop a system that’s accurate, reliable, and user-friendly.</a:t>
            </a:r>
          </a:p>
          <a:p>
            <a:pPr>
              <a:lnSpc>
                <a:spcPct val="150000"/>
              </a:lnSpc>
            </a:pPr>
            <a:endParaRPr lang="en-US" sz="2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1BE5C6-F1B4-4058-A1D1-E6C7789A335B}" type="slidenum">
              <a:rPr lang="en-IN" smtClean="0"/>
              <a:t>13</a:t>
            </a:fld>
            <a:endParaRPr lang="en-IN"/>
          </a:p>
        </p:txBody>
      </p:sp>
      <p:sp>
        <p:nvSpPr>
          <p:cNvPr id="3" name="TextBox 2"/>
          <p:cNvSpPr txBox="1"/>
          <p:nvPr/>
        </p:nvSpPr>
        <p:spPr>
          <a:xfrm>
            <a:off x="499622" y="329938"/>
            <a:ext cx="10015978" cy="5206425"/>
          </a:xfrm>
          <a:prstGeom prst="rect">
            <a:avLst/>
          </a:prstGeom>
          <a:noFill/>
        </p:spPr>
        <p:txBody>
          <a:bodyPr wrap="square">
            <a:spAutoFit/>
          </a:bodyPr>
          <a:lstStyle/>
          <a:p>
            <a:pPr>
              <a:lnSpc>
                <a:spcPct val="150000"/>
              </a:lnSpc>
            </a:pPr>
            <a:r>
              <a:rPr lang="en-US" sz="2600" b="1" dirty="0">
                <a:latin typeface="Times New Roman" panose="02020603050405020304" pitchFamily="18" charset="0"/>
                <a:cs typeface="Times New Roman" panose="02020603050405020304" pitchFamily="18" charset="0"/>
              </a:rPr>
              <a:t>Budget and Resources</a:t>
            </a:r>
          </a:p>
          <a:p>
            <a:pPr>
              <a:lnSpc>
                <a:spcPct val="150000"/>
              </a:lnSpc>
            </a:pPr>
            <a:r>
              <a:rPr lang="en-US" sz="2600" b="1" dirty="0">
                <a:latin typeface="Times New Roman" panose="02020603050405020304" pitchFamily="18" charset="0"/>
                <a:cs typeface="Times New Roman" panose="02020603050405020304" pitchFamily="18" charset="0"/>
              </a:rPr>
              <a:t>Title:</a:t>
            </a:r>
            <a:r>
              <a:rPr lang="en-US" sz="2600" dirty="0">
                <a:latin typeface="Times New Roman" panose="02020603050405020304" pitchFamily="18" charset="0"/>
                <a:cs typeface="Times New Roman" panose="02020603050405020304" pitchFamily="18" charset="0"/>
              </a:rPr>
              <a:t> Budget &amp; Resources</a:t>
            </a:r>
          </a:p>
          <a:p>
            <a:pPr algn="l"/>
            <a:r>
              <a:rPr lang="en-US" sz="2000" dirty="0"/>
              <a:t>1)Solderless breadboard -1-280rs</a:t>
            </a:r>
          </a:p>
          <a:p>
            <a:pPr algn="l"/>
            <a:r>
              <a:rPr lang="en-US" sz="2000" dirty="0"/>
              <a:t>2)16×2 LCD display - 1-400rs</a:t>
            </a:r>
          </a:p>
          <a:p>
            <a:pPr algn="l"/>
            <a:r>
              <a:rPr lang="en-US" sz="2000" dirty="0"/>
              <a:t>3)Hard Jumper Wire 1 meter-90rs</a:t>
            </a:r>
          </a:p>
          <a:p>
            <a:pPr algn="l"/>
            <a:r>
              <a:rPr lang="en-US" sz="2000" dirty="0"/>
              <a:t>4)5 PC 100R / 100 Ohm Resistance-1-10rs</a:t>
            </a:r>
          </a:p>
          <a:p>
            <a:pPr algn="l"/>
            <a:r>
              <a:rPr lang="en-US" sz="2000" dirty="0"/>
              <a:t>5)10k Variable Resistor – 10k Potentiometer-30rs</a:t>
            </a:r>
          </a:p>
          <a:p>
            <a:pPr algn="l"/>
            <a:r>
              <a:rPr lang="en-US" sz="2000" dirty="0"/>
              <a:t>6)Arduino Uno-1-2100rs</a:t>
            </a:r>
          </a:p>
          <a:p>
            <a:pPr algn="l"/>
            <a:r>
              <a:rPr lang="en-US" sz="2000" dirty="0"/>
              <a:t>7)Male to Male Jumper Wires-10-180rs</a:t>
            </a:r>
          </a:p>
          <a:p>
            <a:pPr algn="l"/>
            <a:r>
              <a:rPr lang="en-US" sz="2000" dirty="0"/>
              <a:t>8)Turbidity Sensor  Module-1-2200</a:t>
            </a:r>
          </a:p>
          <a:p>
            <a:pPr algn="l"/>
            <a:r>
              <a:rPr lang="en-US" sz="2000" dirty="0"/>
              <a:t>9)Male to Female jumper Wires-10-180rs</a:t>
            </a:r>
          </a:p>
          <a:p>
            <a:pPr algn="l"/>
            <a:endParaRPr lang="en-US" sz="2000" dirty="0"/>
          </a:p>
          <a:p>
            <a:pPr algn="l"/>
            <a:r>
              <a:rPr lang="en-US" sz="2000" dirty="0"/>
              <a:t>For Large Prototype 3K-4K Rs</a:t>
            </a:r>
          </a:p>
          <a:p>
            <a:pPr>
              <a:lnSpc>
                <a:spcPct val="150000"/>
              </a:lnSpc>
            </a:pPr>
            <a:endParaRPr lang="en-US" sz="2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1BE5C6-F1B4-4058-A1D1-E6C7789A335B}" type="slidenum">
              <a:rPr lang="en-IN" smtClean="0"/>
              <a:t>14</a:t>
            </a:fld>
            <a:endParaRPr lang="en-IN"/>
          </a:p>
        </p:txBody>
      </p:sp>
      <p:sp>
        <p:nvSpPr>
          <p:cNvPr id="3" name="TextBox 2"/>
          <p:cNvSpPr txBox="1"/>
          <p:nvPr/>
        </p:nvSpPr>
        <p:spPr>
          <a:xfrm>
            <a:off x="367991" y="234176"/>
            <a:ext cx="9890434" cy="2538095"/>
          </a:xfrm>
          <a:prstGeom prst="rect">
            <a:avLst/>
          </a:prstGeom>
          <a:noFill/>
        </p:spPr>
        <p:txBody>
          <a:bodyPr wrap="square">
            <a:spAutoFit/>
          </a:bodyPr>
          <a:lstStyle/>
          <a:p>
            <a:pPr>
              <a:lnSpc>
                <a:spcPct val="150000"/>
              </a:lnSpc>
            </a:pPr>
            <a:r>
              <a:rPr lang="en-US" sz="2600" b="1" dirty="0">
                <a:latin typeface="Times New Roman" panose="02020603050405020304" pitchFamily="18" charset="0"/>
                <a:cs typeface="Times New Roman" panose="02020603050405020304" pitchFamily="18" charset="0"/>
              </a:rPr>
              <a:t>Prototype Demonstration</a:t>
            </a:r>
          </a:p>
          <a:p>
            <a:pPr>
              <a:lnSpc>
                <a:spcPct val="150000"/>
              </a:lnSpc>
            </a:pPr>
            <a:r>
              <a:rPr lang="en-US" sz="2600" b="1" dirty="0">
                <a:latin typeface="Times New Roman" panose="02020603050405020304" pitchFamily="18" charset="0"/>
                <a:cs typeface="Times New Roman" panose="02020603050405020304" pitchFamily="18" charset="0"/>
              </a:rPr>
              <a:t>Title:</a:t>
            </a:r>
            <a:r>
              <a:rPr lang="en-IN" sz="2800" dirty="0"/>
              <a:t> "Validation"</a:t>
            </a:r>
            <a:endParaRPr lang="en-US" sz="2600" dirty="0">
              <a:latin typeface="Times New Roman" panose="02020603050405020304" pitchFamily="18" charset="0"/>
              <a:cs typeface="Times New Roman" panose="02020603050405020304" pitchFamily="18" charset="0"/>
            </a:endParaRPr>
          </a:p>
          <a:p>
            <a:pPr>
              <a:lnSpc>
                <a:spcPct val="150000"/>
              </a:lnSpc>
            </a:pPr>
            <a:r>
              <a:rPr lang="en-US" sz="2600" b="1" dirty="0">
                <a:latin typeface="Times New Roman" panose="02020603050405020304" pitchFamily="18" charset="0"/>
                <a:cs typeface="Times New Roman" panose="02020603050405020304" pitchFamily="18" charset="0"/>
              </a:rPr>
              <a:t>Content:</a:t>
            </a:r>
          </a:p>
          <a:p>
            <a:pPr>
              <a:lnSpc>
                <a:spcPct val="150000"/>
              </a:lnSpc>
            </a:pPr>
            <a:endParaRPr lang="en-US" sz="26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rot="16200000">
            <a:off x="946785" y="2236470"/>
            <a:ext cx="3616960" cy="3774440"/>
          </a:xfrm>
          <a:prstGeom prst="rect">
            <a:avLst/>
          </a:prstGeom>
        </p:spPr>
      </p:pic>
      <p:pic>
        <p:nvPicPr>
          <p:cNvPr id="5" name="Picture 4"/>
          <p:cNvPicPr>
            <a:picLocks noChangeAspect="1"/>
          </p:cNvPicPr>
          <p:nvPr/>
        </p:nvPicPr>
        <p:blipFill>
          <a:blip r:embed="rId3"/>
          <a:stretch>
            <a:fillRect/>
          </a:stretch>
        </p:blipFill>
        <p:spPr>
          <a:xfrm>
            <a:off x="6012180" y="1299210"/>
            <a:ext cx="4876800" cy="1890395"/>
          </a:xfrm>
          <a:prstGeom prst="rect">
            <a:avLst/>
          </a:prstGeom>
        </p:spPr>
      </p:pic>
      <p:pic>
        <p:nvPicPr>
          <p:cNvPr id="6" name="Picture 5"/>
          <p:cNvPicPr>
            <a:picLocks noChangeAspect="1"/>
          </p:cNvPicPr>
          <p:nvPr/>
        </p:nvPicPr>
        <p:blipFill>
          <a:blip r:embed="rId4"/>
          <a:stretch>
            <a:fillRect/>
          </a:stretch>
        </p:blipFill>
        <p:spPr>
          <a:xfrm>
            <a:off x="5155565" y="3527425"/>
            <a:ext cx="5356860" cy="20142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1BE5C6-F1B4-4058-A1D1-E6C7789A335B}" type="slidenum">
              <a:rPr lang="en-IN" smtClean="0"/>
              <a:t>15</a:t>
            </a:fld>
            <a:endParaRPr lang="en-IN"/>
          </a:p>
        </p:txBody>
      </p:sp>
      <p:sp>
        <p:nvSpPr>
          <p:cNvPr id="3" name="TextBox 2"/>
          <p:cNvSpPr txBox="1"/>
          <p:nvPr/>
        </p:nvSpPr>
        <p:spPr>
          <a:xfrm>
            <a:off x="764381" y="1018699"/>
            <a:ext cx="9279732" cy="4501360"/>
          </a:xfrm>
          <a:prstGeom prst="rect">
            <a:avLst/>
          </a:prstGeom>
          <a:noFill/>
        </p:spPr>
        <p:txBody>
          <a:bodyPr wrap="square">
            <a:spAutoFit/>
          </a:bodyPr>
          <a:lstStyle/>
          <a:p>
            <a:pPr>
              <a:lnSpc>
                <a:spcPct val="150000"/>
              </a:lnSpc>
            </a:pPr>
            <a:r>
              <a:rPr lang="en-US" sz="2600" b="1" dirty="0">
                <a:latin typeface="Times New Roman" panose="02020603050405020304" pitchFamily="18" charset="0"/>
                <a:cs typeface="Times New Roman" panose="02020603050405020304" pitchFamily="18" charset="0"/>
              </a:rPr>
              <a:t>Testing and Results</a:t>
            </a:r>
          </a:p>
          <a:p>
            <a:pPr>
              <a:lnSpc>
                <a:spcPct val="150000"/>
              </a:lnSpc>
            </a:pPr>
            <a:r>
              <a:rPr lang="en-US" sz="2600" b="1" dirty="0">
                <a:latin typeface="Times New Roman" panose="02020603050405020304" pitchFamily="18" charset="0"/>
                <a:cs typeface="Times New Roman" panose="02020603050405020304" pitchFamily="18" charset="0"/>
              </a:rPr>
              <a:t>Title: </a:t>
            </a:r>
            <a:r>
              <a:rPr lang="en-US" sz="2800" dirty="0"/>
              <a:t>Testing confirmed accurate water quality readings, stable data transmission, and efficient power use, demonstrating reliability for field applications.</a:t>
            </a:r>
            <a:endParaRPr lang="en-US" sz="2600" dirty="0">
              <a:latin typeface="Times New Roman" panose="02020603050405020304" pitchFamily="18" charset="0"/>
              <a:cs typeface="Times New Roman" panose="02020603050405020304" pitchFamily="18" charset="0"/>
            </a:endParaRPr>
          </a:p>
          <a:p>
            <a:pPr>
              <a:lnSpc>
                <a:spcPct val="150000"/>
              </a:lnSpc>
            </a:pPr>
            <a:r>
              <a:rPr lang="en-US" sz="2600" b="1" dirty="0">
                <a:latin typeface="Times New Roman" panose="02020603050405020304" pitchFamily="18" charset="0"/>
                <a:cs typeface="Times New Roman" panose="02020603050405020304" pitchFamily="18" charset="0"/>
              </a:rPr>
              <a:t>Content:</a:t>
            </a:r>
            <a:r>
              <a:rPr lang="en-US" sz="2800" dirty="0"/>
              <a:t> The prototype met objectives with accurate measurements and ease of use, though sensor reliability needs improvement.</a:t>
            </a:r>
            <a:endParaRPr lang="en-US" sz="2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1BE5C6-F1B4-4058-A1D1-E6C7789A335B}" type="slidenum">
              <a:rPr lang="en-IN" smtClean="0"/>
              <a:t>16</a:t>
            </a:fld>
            <a:endParaRPr lang="en-IN"/>
          </a:p>
        </p:txBody>
      </p:sp>
      <p:sp>
        <p:nvSpPr>
          <p:cNvPr id="3" name="TextBox 2"/>
          <p:cNvSpPr txBox="1"/>
          <p:nvPr/>
        </p:nvSpPr>
        <p:spPr>
          <a:xfrm>
            <a:off x="279400" y="1066799"/>
            <a:ext cx="10456333" cy="3449470"/>
          </a:xfrm>
          <a:prstGeom prst="rect">
            <a:avLst/>
          </a:prstGeom>
          <a:noFill/>
        </p:spPr>
        <p:txBody>
          <a:bodyPr wrap="square">
            <a:spAutoFit/>
          </a:bodyPr>
          <a:lstStyle/>
          <a:p>
            <a:pPr>
              <a:lnSpc>
                <a:spcPct val="150000"/>
              </a:lnSpc>
            </a:pPr>
            <a:r>
              <a:rPr lang="en-US" sz="2600" b="1" dirty="0">
                <a:latin typeface="Times New Roman" panose="02020603050405020304" pitchFamily="18" charset="0"/>
                <a:cs typeface="Times New Roman" panose="02020603050405020304" pitchFamily="18" charset="0"/>
              </a:rPr>
              <a:t>Community Impact</a:t>
            </a:r>
          </a:p>
          <a:p>
            <a:pPr>
              <a:lnSpc>
                <a:spcPct val="150000"/>
              </a:lnSpc>
            </a:pPr>
            <a:r>
              <a:rPr lang="en-US" sz="2600" b="1" dirty="0">
                <a:latin typeface="Times New Roman" panose="02020603050405020304" pitchFamily="18" charset="0"/>
                <a:cs typeface="Times New Roman" panose="02020603050405020304" pitchFamily="18" charset="0"/>
              </a:rPr>
              <a:t>Title:</a:t>
            </a:r>
            <a:r>
              <a:rPr lang="en-US" sz="2600" dirty="0">
                <a:latin typeface="Times New Roman" panose="02020603050405020304" pitchFamily="18" charset="0"/>
                <a:cs typeface="Times New Roman" panose="02020603050405020304" pitchFamily="18" charset="0"/>
              </a:rPr>
              <a:t> Community Impact</a:t>
            </a:r>
          </a:p>
          <a:p>
            <a:pPr>
              <a:lnSpc>
                <a:spcPct val="150000"/>
              </a:lnSpc>
              <a:buFont typeface="Arial" panose="020B0604020202020204" pitchFamily="34" charset="0"/>
              <a:buChar char="•"/>
            </a:pPr>
            <a:r>
              <a:rPr lang="en-US" sz="2400" dirty="0"/>
              <a:t>Unsafe drinking water, health issues, impact of environmental sustainability and water pollution.</a:t>
            </a:r>
          </a:p>
          <a:p>
            <a:pPr>
              <a:lnSpc>
                <a:spcPct val="150000"/>
              </a:lnSpc>
            </a:pPr>
            <a:r>
              <a:rPr lang="en-US" sz="2400" dirty="0"/>
              <a:t> </a:t>
            </a:r>
            <a:r>
              <a:rPr lang="en-US" sz="2400" b="1" dirty="0"/>
              <a:t>Users:</a:t>
            </a:r>
            <a:r>
              <a:rPr lang="en-US" sz="2400" dirty="0"/>
              <a:t> Homeowners and environmental advocates benefit by ensuring safe drinking water, reducing health risks, and supporting sustainable practices</a:t>
            </a:r>
            <a:endParaRPr lang="en-US" sz="2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1BE5C6-F1B4-4058-A1D1-E6C7789A335B}" type="slidenum">
              <a:rPr lang="en-IN" smtClean="0"/>
              <a:t>17</a:t>
            </a:fld>
            <a:endParaRPr lang="en-IN"/>
          </a:p>
        </p:txBody>
      </p:sp>
      <p:sp>
        <p:nvSpPr>
          <p:cNvPr id="3" name="TextBox 2"/>
          <p:cNvSpPr txBox="1"/>
          <p:nvPr/>
        </p:nvSpPr>
        <p:spPr>
          <a:xfrm>
            <a:off x="279400" y="871921"/>
            <a:ext cx="10371667" cy="5545044"/>
          </a:xfrm>
          <a:prstGeom prst="rect">
            <a:avLst/>
          </a:prstGeom>
          <a:noFill/>
        </p:spPr>
        <p:txBody>
          <a:bodyPr wrap="square">
            <a:spAutoFit/>
          </a:bodyPr>
          <a:lstStyle/>
          <a:p>
            <a:r>
              <a:rPr lang="en-IN" sz="2800" b="1" dirty="0"/>
              <a:t>Anticipated Impact:</a:t>
            </a:r>
          </a:p>
          <a:p>
            <a:endParaRPr lang="en-IN" sz="2800" b="1" dirty="0"/>
          </a:p>
          <a:p>
            <a:pPr>
              <a:buFont typeface="+mj-lt"/>
              <a:buAutoNum type="arabicPeriod"/>
            </a:pPr>
            <a:r>
              <a:rPr lang="en-IN" sz="2400" b="1" dirty="0"/>
              <a:t>Improved Health and Safety</a:t>
            </a:r>
            <a:r>
              <a:rPr lang="en-IN" sz="2400" dirty="0"/>
              <a:t>: Early detection of contaminants prevents health risks associated with polluted water, especially in areas reliant on local water bodies for drinking or agriculture.</a:t>
            </a:r>
          </a:p>
          <a:p>
            <a:endParaRPr lang="en-IN" sz="2400" dirty="0"/>
          </a:p>
          <a:p>
            <a:r>
              <a:rPr lang="en-IN" sz="2400" b="1" dirty="0"/>
              <a:t>2.Environmental Awareness</a:t>
            </a:r>
            <a:r>
              <a:rPr lang="en-IN" sz="2400" dirty="0"/>
              <a:t>: The project raises community awareness about water pollution, prompting more sustainable </a:t>
            </a:r>
            <a:r>
              <a:rPr lang="en-IN" sz="2400" dirty="0" err="1"/>
              <a:t>behaviors</a:t>
            </a:r>
            <a:r>
              <a:rPr lang="en-IN" sz="2400" dirty="0"/>
              <a:t> and local conservation efforts.</a:t>
            </a:r>
          </a:p>
          <a:p>
            <a:endParaRPr lang="en-IN" sz="2400" dirty="0"/>
          </a:p>
          <a:p>
            <a:r>
              <a:rPr lang="en-IN" sz="2400" b="1" dirty="0"/>
              <a:t>3.Informed Decision-Making</a:t>
            </a:r>
            <a:r>
              <a:rPr lang="en-IN" sz="2400" dirty="0"/>
              <a:t>: Real-time data supports local authorities in making data-driven decisions for water management, including rapid responses to contamination events.</a:t>
            </a:r>
          </a:p>
          <a:p>
            <a:pPr>
              <a:lnSpc>
                <a:spcPct val="150000"/>
              </a:lnSpc>
            </a:pPr>
            <a:endParaRPr lang="en-US" sz="2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1BE5C6-F1B4-4058-A1D1-E6C7789A335B}" type="slidenum">
              <a:rPr lang="en-IN" smtClean="0"/>
              <a:t>18</a:t>
            </a:fld>
            <a:endParaRPr lang="en-IN"/>
          </a:p>
        </p:txBody>
      </p:sp>
      <p:sp>
        <p:nvSpPr>
          <p:cNvPr id="3" name="TextBox 2"/>
          <p:cNvSpPr txBox="1"/>
          <p:nvPr/>
        </p:nvSpPr>
        <p:spPr>
          <a:xfrm>
            <a:off x="950118" y="947261"/>
            <a:ext cx="9108281" cy="4221605"/>
          </a:xfrm>
          <a:prstGeom prst="rect">
            <a:avLst/>
          </a:prstGeom>
          <a:noFill/>
        </p:spPr>
        <p:txBody>
          <a:bodyPr wrap="square">
            <a:spAutoFit/>
          </a:bodyPr>
          <a:lstStyle/>
          <a:p>
            <a:pPr>
              <a:lnSpc>
                <a:spcPct val="150000"/>
              </a:lnSpc>
            </a:pPr>
            <a:r>
              <a:rPr lang="en-US" sz="2600" b="1" dirty="0">
                <a:latin typeface="Times New Roman" panose="02020603050405020304" pitchFamily="18" charset="0"/>
                <a:cs typeface="Times New Roman" panose="02020603050405020304" pitchFamily="18" charset="0"/>
              </a:rPr>
              <a:t>Future Improvements and Next Steps</a:t>
            </a:r>
          </a:p>
          <a:p>
            <a:pPr>
              <a:lnSpc>
                <a:spcPct val="150000"/>
              </a:lnSpc>
            </a:pPr>
            <a:r>
              <a:rPr lang="en-US" sz="2600" b="1" dirty="0">
                <a:latin typeface="Times New Roman" panose="02020603050405020304" pitchFamily="18" charset="0"/>
                <a:cs typeface="Times New Roman" panose="02020603050405020304" pitchFamily="18" charset="0"/>
              </a:rPr>
              <a:t>Title:</a:t>
            </a:r>
            <a:r>
              <a:rPr lang="en-US" sz="2600" dirty="0">
                <a:latin typeface="Times New Roman" panose="02020603050405020304" pitchFamily="18" charset="0"/>
                <a:cs typeface="Times New Roman" panose="02020603050405020304" pitchFamily="18" charset="0"/>
              </a:rPr>
              <a:t> Future Improvements &amp; Next Steps</a:t>
            </a:r>
          </a:p>
          <a:p>
            <a:pPr>
              <a:lnSpc>
                <a:spcPct val="150000"/>
              </a:lnSpc>
            </a:pPr>
            <a:r>
              <a:rPr lang="en-US" sz="2600" b="1" dirty="0">
                <a:latin typeface="Times New Roman" panose="02020603050405020304" pitchFamily="18" charset="0"/>
                <a:cs typeface="Times New Roman" panose="02020603050405020304" pitchFamily="18" charset="0"/>
              </a:rPr>
              <a:t>Next Steps : </a:t>
            </a:r>
            <a:r>
              <a:rPr lang="en-US" sz="2600" dirty="0">
                <a:latin typeface="Times New Roman" panose="02020603050405020304" pitchFamily="18" charset="0"/>
                <a:cs typeface="Times New Roman" panose="02020603050405020304" pitchFamily="18" charset="0"/>
              </a:rPr>
              <a:t>To take this project further, you can also consider interfacing a pH meter with Arduino and  also read the pH value of water to better assess the quality of water. </a:t>
            </a:r>
          </a:p>
          <a:p>
            <a:pPr>
              <a:lnSpc>
                <a:spcPct val="150000"/>
              </a:lnSpc>
            </a:pPr>
            <a:r>
              <a:rPr lang="en-US" sz="2600" b="1" dirty="0">
                <a:latin typeface="Times New Roman" panose="02020603050405020304" pitchFamily="18" charset="0"/>
                <a:cs typeface="Times New Roman" panose="02020603050405020304" pitchFamily="18" charset="0"/>
              </a:rPr>
              <a:t>Future Improvements </a:t>
            </a:r>
            <a:r>
              <a:rPr lang="en-US" sz="2600" dirty="0">
                <a:latin typeface="Times New Roman" panose="02020603050405020304" pitchFamily="18" charset="0"/>
                <a:cs typeface="Times New Roman" panose="02020603050405020304" pitchFamily="18" charset="0"/>
              </a:rPr>
              <a:t>: Uses artificial intelligence to forecast potential water quality issues.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1BE5C6-F1B4-4058-A1D1-E6C7789A335B}" type="slidenum">
              <a:rPr lang="en-IN" smtClean="0"/>
              <a:t>19</a:t>
            </a:fld>
            <a:endParaRPr lang="en-IN"/>
          </a:p>
        </p:txBody>
      </p:sp>
      <p:sp>
        <p:nvSpPr>
          <p:cNvPr id="3" name="TextBox 2"/>
          <p:cNvSpPr txBox="1"/>
          <p:nvPr/>
        </p:nvSpPr>
        <p:spPr>
          <a:xfrm>
            <a:off x="668868" y="494895"/>
            <a:ext cx="9977438" cy="5052602"/>
          </a:xfrm>
          <a:prstGeom prst="rect">
            <a:avLst/>
          </a:prstGeom>
          <a:noFill/>
        </p:spPr>
        <p:txBody>
          <a:bodyPr wrap="square">
            <a:spAutoFit/>
          </a:bodyPr>
          <a:lstStyle/>
          <a:p>
            <a:pPr>
              <a:lnSpc>
                <a:spcPct val="150000"/>
              </a:lnSpc>
            </a:pPr>
            <a:r>
              <a:rPr lang="en-US" sz="2600" b="1" dirty="0">
                <a:latin typeface="Times New Roman" panose="02020603050405020304" pitchFamily="18" charset="0"/>
                <a:cs typeface="Times New Roman" panose="02020603050405020304" pitchFamily="18" charset="0"/>
              </a:rPr>
              <a:t>Reflection and Learning</a:t>
            </a:r>
          </a:p>
          <a:p>
            <a:pPr>
              <a:lnSpc>
                <a:spcPct val="150000"/>
              </a:lnSpc>
            </a:pPr>
            <a:r>
              <a:rPr lang="en-US" sz="2600" b="1" dirty="0">
                <a:latin typeface="Times New Roman" panose="02020603050405020304" pitchFamily="18" charset="0"/>
                <a:cs typeface="Times New Roman" panose="02020603050405020304" pitchFamily="18" charset="0"/>
              </a:rPr>
              <a:t>Title:</a:t>
            </a:r>
            <a:r>
              <a:rPr lang="en-US" sz="2600" dirty="0">
                <a:latin typeface="Times New Roman" panose="02020603050405020304" pitchFamily="18" charset="0"/>
                <a:cs typeface="Times New Roman" panose="02020603050405020304" pitchFamily="18" charset="0"/>
              </a:rPr>
              <a:t> Reflection &amp; Learning</a:t>
            </a:r>
          </a:p>
          <a:p>
            <a:pPr>
              <a:lnSpc>
                <a:spcPct val="150000"/>
              </a:lnSpc>
            </a:pPr>
            <a:endParaRPr lang="en-IN" sz="2800" b="1" dirty="0"/>
          </a:p>
          <a:p>
            <a:pPr>
              <a:buFont typeface="Arial" panose="020B0604020202020204" pitchFamily="34" charset="0"/>
              <a:buChar char="•"/>
            </a:pPr>
            <a:r>
              <a:rPr lang="en-IN" sz="2400" b="1" dirty="0"/>
              <a:t>Technical</a:t>
            </a:r>
            <a:r>
              <a:rPr lang="en-IN" sz="2400" dirty="0"/>
              <a:t>: Sensor calibration, data management, IoT, and machine learning.</a:t>
            </a:r>
          </a:p>
          <a:p>
            <a:pPr>
              <a:buFont typeface="Arial" panose="020B0604020202020204" pitchFamily="34" charset="0"/>
              <a:buChar char="•"/>
            </a:pPr>
            <a:endParaRPr lang="en-IN" sz="2400" dirty="0"/>
          </a:p>
          <a:p>
            <a:pPr>
              <a:buFont typeface="Arial" panose="020B0604020202020204" pitchFamily="34" charset="0"/>
              <a:buChar char="•"/>
            </a:pPr>
            <a:r>
              <a:rPr lang="en-IN" sz="2400" b="1" dirty="0"/>
              <a:t>Interpersonal</a:t>
            </a:r>
            <a:r>
              <a:rPr lang="en-IN" sz="2400" dirty="0"/>
              <a:t>: Team collaboration, time management, problem-solving, documentation.</a:t>
            </a:r>
          </a:p>
          <a:p>
            <a:endParaRPr lang="en-IN" sz="2400" dirty="0"/>
          </a:p>
          <a:p>
            <a:pPr>
              <a:buFont typeface="Arial" panose="020B0604020202020204" pitchFamily="34" charset="0"/>
              <a:buChar char="•"/>
            </a:pPr>
            <a:r>
              <a:rPr lang="en-IN" sz="2400" b="1" dirty="0"/>
              <a:t>Skills Gained</a:t>
            </a:r>
            <a:r>
              <a:rPr lang="en-IN" sz="2400" dirty="0"/>
              <a:t>: Data analytics, programming, project management, and communication.</a:t>
            </a:r>
          </a:p>
          <a:p>
            <a:pPr>
              <a:lnSpc>
                <a:spcPct val="150000"/>
              </a:lnSpc>
            </a:pPr>
            <a:endParaRPr lang="en-US" sz="2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1BE5C6-F1B4-4058-A1D1-E6C7789A335B}" type="slidenum">
              <a:rPr lang="en-IN" smtClean="0"/>
              <a:t>20</a:t>
            </a:fld>
            <a:endParaRPr lang="en-IN"/>
          </a:p>
        </p:txBody>
      </p:sp>
      <p:pic>
        <p:nvPicPr>
          <p:cNvPr id="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033463"/>
            <a:ext cx="7315200" cy="421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1210</Words>
  <Application>Microsoft Office PowerPoint</Application>
  <PresentationFormat>Widescreen</PresentationFormat>
  <Paragraphs>183</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vijayanavyasridharmaraju@gmail.com</cp:lastModifiedBy>
  <cp:revision>22</cp:revision>
  <dcterms:created xsi:type="dcterms:W3CDTF">2024-11-06T09:58:00Z</dcterms:created>
  <dcterms:modified xsi:type="dcterms:W3CDTF">2026-03-31T07:40:23Z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B7B06FD86CF7403DB9B3667BCCD565F8_12</vt:lpwstr>
  </property>
  <property fmtid="{D5CDD505-2E9C-101B-9397-08002B2CF9AE}" pid="3" name="KSOProductBuildVer">
    <vt:lpwstr>1033-12.2.0.18607</vt:lpwstr>
  </property>
</Properties>
</file>